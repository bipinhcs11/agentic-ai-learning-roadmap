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a41e673af14a9b" /><Relationship Type="http://schemas.openxmlformats.org/officeDocument/2006/relationships/extended-properties" Target="/docProps/app.xml" Id="R68683985cc1f4f7b" /><Relationship Type="http://schemas.openxmlformats.org/officeDocument/2006/relationships/officeDocument" Target="/ppt/presentation.xml" Id="Rfa456ec7540344b1" /></Relationships>
</file>

<file path=ppt/presentation.xml><?xml version="1.0" encoding="utf-8"?>
<p:presentation xmlns:p="http://schemas.openxmlformats.org/presentationml/2006/main">
  <p:sldMasterIdLst>
    <p:sldMasterId xmlns:r="http://schemas.openxmlformats.org/officeDocument/2006/relationships" id="2147483648" r:id="Rbd40e59902954bbe"/>
  </p:sldMasterIdLst>
  <p:notesMasterIdLst>
    <p:notesMasterId xmlns:r="http://schemas.openxmlformats.org/officeDocument/2006/relationships" r:id="Rafcde36a24534f69"/>
  </p:notesMasterIdLst>
  <p:sldIdLst>
    <p:sldId xmlns:r="http://schemas.openxmlformats.org/officeDocument/2006/relationships" id="256" r:id="Ra611177bdbf942e8"/>
    <p:sldId xmlns:r="http://schemas.openxmlformats.org/officeDocument/2006/relationships" id="257" r:id="R7a2c45f1cb764239"/>
    <p:sldId xmlns:r="http://schemas.openxmlformats.org/officeDocument/2006/relationships" id="258" r:id="Re40dff190d7d4193"/>
    <p:sldId xmlns:r="http://schemas.openxmlformats.org/officeDocument/2006/relationships" id="259" r:id="R622844d452094289"/>
    <p:sldId xmlns:r="http://schemas.openxmlformats.org/officeDocument/2006/relationships" id="260" r:id="R4cae94ca7f554443"/>
    <p:sldId xmlns:r="http://schemas.openxmlformats.org/officeDocument/2006/relationships" id="261" r:id="Rab1665cd49904472"/>
    <p:sldId xmlns:r="http://schemas.openxmlformats.org/officeDocument/2006/relationships" id="262" r:id="R4ebc7719eb8e4dd0"/>
    <p:sldId xmlns:r="http://schemas.openxmlformats.org/officeDocument/2006/relationships" id="263" r:id="R641158b1d900450c"/>
    <p:sldId xmlns:r="http://schemas.openxmlformats.org/officeDocument/2006/relationships" id="264" r:id="R9196ef7b70114a82"/>
    <p:sldId xmlns:r="http://schemas.openxmlformats.org/officeDocument/2006/relationships" id="265" r:id="Rcaf4938c22534291"/>
    <p:sldId xmlns:r="http://schemas.openxmlformats.org/officeDocument/2006/relationships" id="266" r:id="Rb60ae235a61a433f"/>
    <p:sldId xmlns:r="http://schemas.openxmlformats.org/officeDocument/2006/relationships" id="267" r:id="R46bc603050e94c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b1d2356626478a" /><Relationship Type="http://schemas.openxmlformats.org/officeDocument/2006/relationships/slideMaster" Target="/ppt/slideMasters/slideMaster1.xml" Id="Rbd40e59902954bbe" /><Relationship Type="http://schemas.openxmlformats.org/officeDocument/2006/relationships/notesMaster" Target="/ppt/notesMasters/notesMaster1.xml" Id="Rafcde36a24534f69" /><Relationship Type="http://schemas.openxmlformats.org/officeDocument/2006/relationships/presProps" Target="/ppt/presProps.xml" Id="R7aa82a61b0744189" /><Relationship Type="http://schemas.openxmlformats.org/officeDocument/2006/relationships/tableStyles" Target="/ppt/tableStyles.xml" Id="R4ffdf4921b3941ea" /><Relationship Type="http://schemas.openxmlformats.org/officeDocument/2006/relationships/slide" Target="/ppt/slides/slide1.xml" Id="Ra611177bdbf942e8" /><Relationship Type="http://schemas.openxmlformats.org/officeDocument/2006/relationships/slide" Target="/ppt/slides/slide2.xml" Id="R7a2c45f1cb764239" /><Relationship Type="http://schemas.openxmlformats.org/officeDocument/2006/relationships/slide" Target="/ppt/slides/slide3.xml" Id="Re40dff190d7d4193" /><Relationship Type="http://schemas.openxmlformats.org/officeDocument/2006/relationships/slide" Target="/ppt/slides/slide4.xml" Id="R622844d452094289" /><Relationship Type="http://schemas.openxmlformats.org/officeDocument/2006/relationships/slide" Target="/ppt/slides/slide5.xml" Id="R4cae94ca7f554443" /><Relationship Type="http://schemas.openxmlformats.org/officeDocument/2006/relationships/slide" Target="/ppt/slides/slide6.xml" Id="Rab1665cd49904472" /><Relationship Type="http://schemas.openxmlformats.org/officeDocument/2006/relationships/slide" Target="/ppt/slides/slide7.xml" Id="R4ebc7719eb8e4dd0" /><Relationship Type="http://schemas.openxmlformats.org/officeDocument/2006/relationships/slide" Target="/ppt/slides/slide8.xml" Id="R641158b1d900450c" /><Relationship Type="http://schemas.openxmlformats.org/officeDocument/2006/relationships/slide" Target="/ppt/slides/slide9.xml" Id="R9196ef7b70114a82" /><Relationship Type="http://schemas.openxmlformats.org/officeDocument/2006/relationships/slide" Target="/ppt/slides/slide10.xml" Id="Rcaf4938c22534291" /><Relationship Type="http://schemas.openxmlformats.org/officeDocument/2006/relationships/slide" Target="/ppt/slides/slide11.xml" Id="Rb60ae235a61a433f" /><Relationship Type="http://schemas.openxmlformats.org/officeDocument/2006/relationships/slide" Target="/ppt/slides/slide12.xml" Id="R46bc603050e94c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2dff9ac95740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dcf53ea954453d" /><Relationship Type="http://schemas.openxmlformats.org/officeDocument/2006/relationships/notesMaster" Target="/ppt/notesMasters/notesMaster1.xml" Id="R13ebb5c0c4754e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3fb42a9f9342f6" /><Relationship Type="http://schemas.openxmlformats.org/officeDocument/2006/relationships/notesMaster" Target="/ppt/notesMasters/notesMaster1.xml" Id="R752492a77ba042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b08c9b2433410d" /><Relationship Type="http://schemas.openxmlformats.org/officeDocument/2006/relationships/notesMaster" Target="/ppt/notesMasters/notesMaster1.xml" Id="R958f691453434c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89cae148bf4d69" /><Relationship Type="http://schemas.openxmlformats.org/officeDocument/2006/relationships/notesMaster" Target="/ppt/notesMasters/notesMaster1.xml" Id="Ref08dfa51e1f4a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968660c8f248c7" /><Relationship Type="http://schemas.openxmlformats.org/officeDocument/2006/relationships/notesMaster" Target="/ppt/notesMasters/notesMaster1.xml" Id="R55c8bd0743a94d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785c2ca2d54084" /><Relationship Type="http://schemas.openxmlformats.org/officeDocument/2006/relationships/notesMaster" Target="/ppt/notesMasters/notesMaster1.xml" Id="R99804cb542a041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f498841d264290" /><Relationship Type="http://schemas.openxmlformats.org/officeDocument/2006/relationships/notesMaster" Target="/ppt/notesMasters/notesMaster1.xml" Id="R1b10eb5ed82042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b906b60fb14293" /><Relationship Type="http://schemas.openxmlformats.org/officeDocument/2006/relationships/notesMaster" Target="/ppt/notesMasters/notesMaster1.xml" Id="Re7af966c5c9049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8a54b3080e4d4d" /><Relationship Type="http://schemas.openxmlformats.org/officeDocument/2006/relationships/notesMaster" Target="/ppt/notesMasters/notesMaster1.xml" Id="R63503356dc6a4d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92ced5064943c2" /><Relationship Type="http://schemas.openxmlformats.org/officeDocument/2006/relationships/notesMaster" Target="/ppt/notesMasters/notesMaster1.xml" Id="R922a5675a80349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9d567c4d9744c1" /><Relationship Type="http://schemas.openxmlformats.org/officeDocument/2006/relationships/notesMaster" Target="/ppt/notesMasters/notesMaster1.xml" Id="R131cefbed25441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2fa65dcd25450f" /><Relationship Type="http://schemas.openxmlformats.org/officeDocument/2006/relationships/notesMaster" Target="/ppt/notesMasters/notesMaster1.xml" Id="R18dabdfdf3a74c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revision applies the supplied MCP eligibility guardrails.</a:t>
            </a:r>
          </a:p>
          <a:p xmlns:a="http://schemas.openxmlformats.org/drawingml/2006/main">
            <a:r>
              <a:t>The decision remains a small internal diagnostic slice, not a platform rollout.</a:t>
            </a:r>
          </a:p>
          <a:p xmlns:a="http://schemas.openxmlformats.org/drawingml/2006/main">
            <a:r>
              <a:t/>
            </a:r>
          </a:p>
          <a:p xmlns:a="http://schemas.openxmlformats.org/drawingml/2006/main">
            <a:r>
              <a:t>[Sources]</a:t>
            </a:r>
          </a:p>
          <a:p xmlns:a="http://schemas.openxmlformats.org/drawingml/2006/main">
            <a:r>
              <a:t>- User-supplied MCP conditions and limitations; reference consulted in-session and not embedded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architecture constraints, not presentation preferences.</a:t>
            </a:r>
          </a:p>
          <a:p xmlns:a="http://schemas.openxmlformats.org/drawingml/2006/main">
            <a:r>
              <a:t>Treat 'no delegated access' as no downstream user-token delegation or customer delegation. An internal workforce user can still authenticate to the gateway if the enterprise identity team approves that pattern.</a:t>
            </a:r>
          </a:p>
          <a:p xmlns:a="http://schemas.openxmlformats.org/drawingml/2006/main">
            <a:r>
              <a:t>Treat 'internally hosted' as an enterprise policy definition. A private cloud landing zone is acceptable only when the policy owner explicitly classifies it as internal hosting.</a:t>
            </a:r>
          </a:p>
          <a:p xmlns:a="http://schemas.openxmlformats.org/drawingml/2006/main">
            <a:r>
              <a:t/>
            </a:r>
          </a:p>
          <a:p xmlns:a="http://schemas.openxmlformats.org/drawingml/2006/main">
            <a:r>
              <a:t>[Sources]</a:t>
            </a:r>
          </a:p>
          <a:p xmlns:a="http://schemas.openxmlformats.org/drawingml/2006/main">
            <a:r>
              <a:t>- User-supplied MCP conditions and limitations; reference consulted in-session and not embedded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registry remains a control plane that publishes a signed tool-and-policy snapshot to the gateway.</a:t>
            </a:r>
          </a:p>
          <a:p xmlns:a="http://schemas.openxmlformats.org/drawingml/2006/main">
            <a:r>
              <a:t>Every initial and follow-up MCP call returns through the gateway.</a:t>
            </a:r>
          </a:p>
          <a:p xmlns:a="http://schemas.openxmlformats.org/drawingml/2006/main">
            <a:r>
              <a:t>The execution surface is limited to named read-only API tools. MCP resources, direct database access, filesystem access, generic HTTP, and server-side agents are out of scope.</a:t>
            </a:r>
          </a:p>
          <a:p xmlns:a="http://schemas.openxmlformats.org/drawingml/2006/main">
            <a:r>
              <a:t/>
            </a:r>
          </a:p>
          <a:p xmlns:a="http://schemas.openxmlformats.org/drawingml/2006/main">
            <a:r>
              <a:t>[Sources]</a:t>
            </a:r>
          </a:p>
          <a:p xmlns:a="http://schemas.openxmlformats.org/drawingml/2006/main">
            <a:r>
              <a:t>- User-supplied MCP conditions and limitations; reference consulted in-session and not embedded</a:t>
            </a:r>
          </a:p>
          <a:p xmlns:a="http://schemas.openxmlformats.org/drawingml/2006/main">
            <a:r>
              <a:t>- https://modelcontextprotocol.io/specification/2025-11-25/basic/authorization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Constraint-compliant fictional sequence:</a:t>
            </a:r>
          </a:p>
          <a:p xmlns:a="http://schemas.openxmlformats.org/drawingml/2006/main">
            <a:r>
              <a:t>1. An approved internal user asks from VS Code why a synthetic work item has no enrollment details.</a:t>
            </a:r>
          </a:p>
          <a:p xmlns:a="http://schemas.openxmlformats.org/drawingml/2006/main">
            <a:r>
              <a:t>2. Work Item MCP exposes participant_context and recent_life_events. Both are named read-only wrappers over existing internal APIs.</a:t>
            </a:r>
          </a:p>
          <a:p xmlns:a="http://schemas.openxmlformats.org/drawingml/2006/main">
            <a:r>
              <a:t>3. The approved IDE correlates the returned evidence in a fixed, user-controlled workflow. The MCP servers do not host or invoke an agent.</a:t>
            </a:r>
          </a:p>
          <a:p xmlns:a="http://schemas.openxmlformats.org/drawingml/2006/main">
            <a:r>
              <a:t>4. If evidence is incomplete, the IDE sends a new config_check call through the gateway to Config Check MCP.</a:t>
            </a:r>
          </a:p>
          <a:p xmlns:a="http://schemas.openxmlformats.org/drawingml/2006/main">
            <a:r>
              <a:t>5. Config Check MCP calls the existing internal Config API through the internal API Gateway and returns a read-only result.</a:t>
            </a:r>
          </a:p>
          <a:p xmlns:a="http://schemas.openxmlformats.org/drawingml/2006/main">
            <a:r>
              <a:t>6. Every response returns through the MCP Gateway with trace and audit correlation.</a:t>
            </a:r>
          </a:p>
          <a:p xmlns:a="http://schemas.openxmlformats.org/drawingml/2006/main">
            <a:r>
              <a:t>There is no PostgreSQL MCP, direct database query, filesystem access, MCP resource, server-side AI agent, or agent-to-agent call in this POC.</a:t>
            </a:r>
          </a:p>
          <a:p xmlns:a="http://schemas.openxmlformats.org/drawingml/2006/main">
            <a:r>
              <a:t/>
            </a:r>
          </a:p>
          <a:p xmlns:a="http://schemas.openxmlformats.org/drawingml/2006/main">
            <a:r>
              <a:t>[Sources]</a:t>
            </a:r>
          </a:p>
          <a:p xmlns:a="http://schemas.openxmlformats.org/drawingml/2006/main">
            <a:r>
              <a:t>- User-supplied MCP conditions and limitations and fictional Work Item scenario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Registry: approved internal owners, named API tools, schemas, versions, and risk classification.</a:t>
            </a:r>
          </a:p>
          <a:p xmlns:a="http://schemas.openxmlformats.org/drawingml/2006/main">
            <a:r>
              <a:t>Gateway: workforce authentication, per-call authorization, route control, trace start, and denial evidence.</a:t>
            </a:r>
          </a:p>
          <a:p xmlns:a="http://schemas.openxmlformats.org/drawingml/2006/main">
            <a:r>
              <a:t>Server and wrapper: only the named read-only API operation. No generic SQL, generic HTTP, resources, filesystem, or agent invocation.</a:t>
            </a:r>
          </a:p>
          <a:p xmlns:a="http://schemas.openxmlformats.org/drawingml/2006/main">
            <a:r>
              <a:t/>
            </a:r>
          </a:p>
          <a:p xmlns:a="http://schemas.openxmlformats.org/drawingml/2006/main">
            <a:r>
              <a:t>[Sources]</a:t>
            </a:r>
          </a:p>
          <a:p xmlns:a="http://schemas.openxmlformats.org/drawingml/2006/main">
            <a:r>
              <a:t>- User-supplied MCP conditions and limitations; reference consulted in-session and not embedded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Gate 1 proves the approved contract contains only internal read-only API tools.</a:t>
            </a:r>
          </a:p>
          <a:p xmlns:a="http://schemas.openxmlformats.org/drawingml/2006/main">
            <a:r>
              <a:t>Gate 2 proves the fictional diagnosis using Work Item and Config Check MCP servers, without a database MCP or agent service.</a:t>
            </a:r>
          </a:p>
          <a:p xmlns:a="http://schemas.openxmlformats.org/drawingml/2006/main">
            <a:r>
              <a:t>Gate 3 produces trace, audit, and denial evidence for the enterprise review.</a:t>
            </a:r>
          </a:p>
          <a:p xmlns:a="http://schemas.openxmlformats.org/drawingml/2006/main">
            <a:r>
              <a:t/>
            </a:r>
          </a:p>
          <a:p xmlns:a="http://schemas.openxmlformats.org/drawingml/2006/main">
            <a:r>
              <a:t>[Sources]</a:t>
            </a:r>
          </a:p>
          <a:p xmlns:a="http://schemas.openxmlformats.org/drawingml/2006/main">
            <a:r>
              <a:t>- User-supplied MCP conditions and limitations and fictional Work Item scenario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success case demonstrates useful evidence correlation in the approved IDE workflow.</a:t>
            </a:r>
          </a:p>
          <a:p xmlns:a="http://schemas.openxmlformats.org/drawingml/2006/main">
            <a:r>
              <a:t>The denial cases demonstrate that unknown tools, direct MCP-server access, database access, and other disallowed capability types do not run.</a:t>
            </a:r>
          </a:p>
          <a:p xmlns:a="http://schemas.openxmlformats.org/drawingml/2006/main">
            <a:r>
              <a:t>All identifiers and data are fictional and synthetic.</a:t>
            </a:r>
          </a:p>
          <a:p xmlns:a="http://schemas.openxmlformats.org/drawingml/2006/main">
            <a:r>
              <a:t/>
            </a:r>
          </a:p>
          <a:p xmlns:a="http://schemas.openxmlformats.org/drawingml/2006/main">
            <a:r>
              <a:t>[Sources]</a:t>
            </a:r>
          </a:p>
          <a:p xmlns:a="http://schemas.openxmlformats.org/drawingml/2006/main">
            <a:r>
              <a:t>- User-supplied MCP conditions and limitations and fictional Work Item scenario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hosting recommendation under these guardrails: deploy the gateway, registry snapshot, and MCP servers within the enterprise-controlled internal network and approved platform runtime.</a:t>
            </a:r>
          </a:p>
          <a:p xmlns:a="http://schemas.openxmlformats.org/drawingml/2006/main">
            <a:r>
              <a:t>Do not make Azure a POC dependency unless the enterprise policy owner confirms that the private Azure landing zone is classified as internally hosted rather than external or third-party hosting.</a:t>
            </a:r>
          </a:p>
          <a:p xmlns:a="http://schemas.openxmlformats.org/drawingml/2006/main">
            <a:r>
              <a:t>All enterprise data access occurs behind existing internal read-only APIs. The MCP layer receives no direct database or filesystem credentials.</a:t>
            </a:r>
          </a:p>
          <a:p xmlns:a="http://schemas.openxmlformats.org/drawingml/2006/main">
            <a:r>
              <a:t>Tracing and audit records remain inside approved enterprise telemetry systems.</a:t>
            </a:r>
          </a:p>
          <a:p xmlns:a="http://schemas.openxmlformats.org/drawingml/2006/main">
            <a:r>
              <a:t/>
            </a:r>
          </a:p>
          <a:p xmlns:a="http://schemas.openxmlformats.org/drawingml/2006/main">
            <a:r>
              <a:t>[Sources]</a:t>
            </a:r>
          </a:p>
          <a:p xmlns:a="http://schemas.openxmlformats.org/drawingml/2006/main">
            <a:r>
              <a:t>- User-supplied MCP conditions and limitations; reference consulted in-session and not embedded</a:t>
            </a:r>
          </a:p>
          <a:p xmlns:a="http://schemas.openxmlformats.org/drawingml/2006/main">
            <a:r>
              <a:t>- https://modelcontextprotocol.io/specification/2025-11-25/basic/transports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Runtime sequence:</a:t>
            </a:r>
          </a:p>
          <a:p xmlns:a="http://schemas.openxmlformats.org/drawingml/2006/main">
            <a:r>
              <a:t>1. The developer uses GitHub Copilot Chat in an approved IDE; no MCP server is installed on the workstation.</a:t>
            </a:r>
          </a:p>
          <a:p xmlns:a="http://schemas.openxmlformats.org/drawingml/2006/main">
            <a:r>
              <a:t>2. Azure API Center provides discovery metadata, but it is not part of the runtime request path.</a:t>
            </a:r>
          </a:p>
          <a:p xmlns:a="http://schemas.openxmlformats.org/drawingml/2006/main">
            <a:r>
              <a:t>3. Azure API Management authenticates the request, authorizes the named tool, starts the trace, and routes the call.</a:t>
            </a:r>
          </a:p>
          <a:p xmlns:a="http://schemas.openxmlformats.org/drawingml/2006/main">
            <a:r>
              <a:t>4. MCP servers run in Azure Container Apps. Azure Functions is optional for simple stateless tools.</a:t>
            </a:r>
          </a:p>
          <a:p xmlns:a="http://schemas.openxmlformats.org/drawingml/2006/main">
            <a:r>
              <a:t>5. The MCP server uses workload identity to call the existing internal API gateway and read-only APIs.</a:t>
            </a:r>
          </a:p>
          <a:p xmlns:a="http://schemas.openxmlformats.org/drawingml/2006/main">
            <a:r>
              <a:t>6. Private network connectivity reaches cloud or on-prem systems. Responses return through the same path.</a:t>
            </a:r>
          </a:p>
          <a:p xmlns:a="http://schemas.openxmlformats.org/drawingml/2006/main">
            <a:r>
              <a:t>7. Key Vault and managed identities protect credentials; Application Insights and Log Analytics retain the correlated trace and audit record.</a:t>
            </a:r>
          </a:p>
          <a:p xmlns:a="http://schemas.openxmlformats.org/drawingml/2006/main">
            <a:r>
              <a:t/>
            </a:r>
          </a:p>
          <a:p xmlns:a="http://schemas.openxmlformats.org/drawingml/2006/main">
            <a:r>
              <a:t>[Sources]</a:t>
            </a:r>
          </a:p>
          <a:p xmlns:a="http://schemas.openxmlformats.org/drawingml/2006/main">
            <a:r>
              <a:t>- https://learn.microsoft.com/en-us/azure/api-management/mcp-server-overview</a:t>
            </a:r>
          </a:p>
          <a:p xmlns:a="http://schemas.openxmlformats.org/drawingml/2006/main">
            <a:r>
              <a:t>- https://learn.microsoft.com/en-us/azure/api-center/register-discover-mcp-server</a:t>
            </a:r>
          </a:p>
          <a:p xmlns:a="http://schemas.openxmlformats.org/drawingml/2006/main">
            <a:r>
              <a:t>- https://learn.microsoft.com/en-us/azure/container-apps/mcp-choosing-azure-service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workforce access token is accepted only by the MCP Gateway and validated for its canonical audience.</a:t>
            </a:r>
          </a:p>
          <a:p xmlns:a="http://schemas.openxmlformats.org/drawingml/2006/main">
            <a:r>
              <a:t>The gateway creates a separate short-lived internal grant for one named API tool call. A retry or follow-up gets a new grant and jti.</a:t>
            </a:r>
          </a:p>
          <a:p xmlns:a="http://schemas.openxmlformats.org/drawingml/2006/main">
            <a:r>
              <a:t>MCP servers use approved workload identity to reach the internal API Gateway. They do not receive or forward the user's bearer token, and they do not use downstream OAuth delegation or OBO in this POC.</a:t>
            </a:r>
          </a:p>
          <a:p xmlns:a="http://schemas.openxmlformats.org/drawingml/2006/main">
            <a:r>
              <a:t>W3C trace context links spans; it is not authorization. Separate audit events record actor, tool, policy decision, outcome, and denial reason.</a:t>
            </a:r>
          </a:p>
          <a:p xmlns:a="http://schemas.openxmlformats.org/drawingml/2006/main">
            <a:r>
              <a:t/>
            </a:r>
          </a:p>
          <a:p xmlns:a="http://schemas.openxmlformats.org/drawingml/2006/main">
            <a:r>
              <a:t>[Sources]</a:t>
            </a:r>
          </a:p>
          <a:p xmlns:a="http://schemas.openxmlformats.org/drawingml/2006/main">
            <a:r>
              <a:t>- User-supplied MCP conditions and limitations; reference consulted in-session and not embedded</a:t>
            </a:r>
          </a:p>
          <a:p xmlns:a="http://schemas.openxmlformats.org/drawingml/2006/main">
            <a:r>
              <a:t>- https://modelcontextprotocol.io/specification/2025-11-25/basic/authorization</a:t>
            </a:r>
          </a:p>
          <a:p xmlns:a="http://schemas.openxmlformats.org/drawingml/2006/main">
            <a:r>
              <a:t>- https://www.w3.org/TR/trace-context/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POC and pilot may expand only through additional approved, internally hosted, read-only API tools.</a:t>
            </a:r>
          </a:p>
          <a:p xmlns:a="http://schemas.openxmlformats.org/drawingml/2006/main">
            <a:r>
              <a:t>Customer-facing access, customer data, direct database or filesystem access, external hosting, AI agents, and A2A/ARD require a separate policy and governance decision. They are not a natural next phase of this POC.</a:t>
            </a:r>
          </a:p>
          <a:p xmlns:a="http://schemas.openxmlformats.org/drawingml/2006/main">
            <a:r>
              <a:t>This keeps the immediate experiment honest while preserving A2A/ARD as a possible end-state topic if the guardrails change later.</a:t>
            </a:r>
          </a:p>
          <a:p xmlns:a="http://schemas.openxmlformats.org/drawingml/2006/main">
            <a:r>
              <a:t/>
            </a:r>
          </a:p>
          <a:p xmlns:a="http://schemas.openxmlformats.org/drawingml/2006/main">
            <a:r>
              <a:t>[Sources]</a:t>
            </a:r>
          </a:p>
          <a:p xmlns:a="http://schemas.openxmlformats.org/drawingml/2006/main">
            <a:r>
              <a:t>- User-supplied MCP conditions and limitations and enterprise ecosystem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 only the constraint-compliant diagnostic slice.</a:t>
            </a:r>
          </a:p>
          <a:p xmlns:a="http://schemas.openxmlformats.org/drawingml/2006/main">
            <a:r>
              <a:t>Continue, refine, or stop based on useful diagnosis, predictable denial, read-only API enforcement, internal hosting, and trace evidence.</a:t>
            </a:r>
          </a:p>
          <a:p xmlns:a="http://schemas.openxmlformats.org/drawingml/2006/main">
            <a:r>
              <a:t/>
            </a:r>
          </a:p>
          <a:p xmlns:a="http://schemas.openxmlformats.org/drawingml/2006/main">
            <a:r>
              <a:t>[Sources]</a:t>
            </a:r>
          </a:p>
          <a:p xmlns:a="http://schemas.openxmlformats.org/drawingml/2006/main">
            <a:r>
              <a:t>- User-supplied MCP conditions and limitations and fictional Work Item scenario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ad3b2ff92841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ee592e67484a6f" /><Relationship Type="http://schemas.openxmlformats.org/officeDocument/2006/relationships/slideLayout" Target="/ppt/slideLayouts/slideLayout1.xml" Id="Refdf6234312e4f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df6234312e4f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065ddfee6c47a4" /><Relationship Type="http://schemas.openxmlformats.org/officeDocument/2006/relationships/notesSlide" Target="/ppt/notesSlides/notesSlide1.xml" Id="R0305e07e0c1440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27918d971c4b29" /><Relationship Type="http://schemas.openxmlformats.org/officeDocument/2006/relationships/notesSlide" Target="/ppt/notesSlides/notesSlide2.xml" Id="R6dcfd093841b43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6a6232d0824cfe" /><Relationship Type="http://schemas.openxmlformats.org/officeDocument/2006/relationships/notesSlide" Target="/ppt/notesSlides/notesSlide3.xml" Id="R7bfa83512ffc4c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625461f2354dfb" /><Relationship Type="http://schemas.openxmlformats.org/officeDocument/2006/relationships/image" Target="/ppt/media/image.png" Id="Rae54ce48a571498b" /><Relationship Type="http://schemas.openxmlformats.org/officeDocument/2006/relationships/notesSlide" Target="/ppt/notesSlides/notesSlide4.xml" Id="R681bb1a6bcab4c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cedde113d5418a" /><Relationship Type="http://schemas.openxmlformats.org/officeDocument/2006/relationships/notesSlide" Target="/ppt/notesSlides/notesSlide5.xml" Id="R8954edfc4eae42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053a541f164dba" /><Relationship Type="http://schemas.openxmlformats.org/officeDocument/2006/relationships/notesSlide" Target="/ppt/notesSlides/notesSlide6.xml" Id="R0d3dd7ec06dd42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d5d20822cf40b1" /><Relationship Type="http://schemas.openxmlformats.org/officeDocument/2006/relationships/notesSlide" Target="/ppt/notesSlides/notesSlide7.xml" Id="Rc4799eae6a6e42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27128830614c59" /><Relationship Type="http://schemas.openxmlformats.org/officeDocument/2006/relationships/notesSlide" Target="/ppt/notesSlides/notesSlide8.xml" Id="R1eaf887dcc6a4a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32b9650de5443d" /><Relationship Type="http://schemas.openxmlformats.org/officeDocument/2006/relationships/image" Target="/ppt/media/image2.png" Id="R781202443bd24c97" /><Relationship Type="http://schemas.openxmlformats.org/officeDocument/2006/relationships/notesSlide" Target="/ppt/notesSlides/notesSlide9.xml" Id="R3221f4e2a66643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333981a61b44b9" /><Relationship Type="http://schemas.openxmlformats.org/officeDocument/2006/relationships/notesSlide" Target="/ppt/notesSlides/notesSlide10.xml" Id="Rf7b5793d97df40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d57599a46e84434" /><Relationship Type="http://schemas.openxmlformats.org/officeDocument/2006/relationships/notesSlide" Target="/ppt/notesSlides/notesSlide11.xml" Id="R6ddc5285fa2345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daca07dde2a40ff" /><Relationship Type="http://schemas.openxmlformats.org/officeDocument/2006/relationships/notesSlide" Target="/ppt/notesSlides/notesSlide12.xml" Id="Rfec50a0b61864b0a" /></Relationships>
</file>

<file path=ppt/slides/slide1.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66B0D068-3B42-4A7E-BE86-52ED6C010CE1}"/>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Governed MCP</a:t>
            </a:r>
          </a:p>
          <a:p xmlns:a="http://schemas.openxmlformats.org/drawingml/2006/main">
            <a:pPr algn="l">
              <a:buNone/>
              <a:defRPr sz="6000">
                <a:solidFill>
                  <a:srgbClr val="000000"/>
                </a:solidFill>
                <a:latin typeface="Helvetica Neue"/>
                <a:ea typeface="Helvetica Neue"/>
                <a:cs typeface="Helvetica Neue"/>
              </a:defRPr>
            </a:pPr>
            <a:r>
              <a:t>Ecosystem</a:t>
            </a:r>
          </a:p>
        </p:txBody>
      </p:sp>
      <p:sp>
        <p:nvSpPr>
          <p:cNvPr id="2" name="Subtitle-4-2">
            <a:extLst xmlns:a="http://schemas.openxmlformats.org/drawingml/2006/main">
              <a:ext uri="{FF2B5EF4-FFF2-40B4-BE49-F238E27FC236}">
                <a16:creationId xmlns:a16="http://schemas.microsoft.com/office/drawing/2014/main" id="{D4F0D1ED-2CAC-4C1D-A352-2DC597412CA2}"/>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One client • one gateway • two API-only MCP servers • one traced diagnosis</a:t>
            </a:r>
          </a:p>
        </p:txBody>
      </p:sp>
      <p:sp>
        <p:nvSpPr>
          <p:cNvPr id="3" name="Subtitle-4-3">
            <a:extLst xmlns:a="http://schemas.openxmlformats.org/drawingml/2006/main">
              <a:ext uri="{FF2B5EF4-FFF2-40B4-BE49-F238E27FC236}">
                <a16:creationId xmlns:a16="http://schemas.microsoft.com/office/drawing/2014/main" id="{D4A48C1A-F885-4C52-A8AC-1014C5CA77CE}"/>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ENTERPRISE PROOF OF CONCEPT</a:t>
            </a:r>
          </a:p>
        </p:txBody>
      </p:sp>
    </p:spTree>
    <p:extLst>
      <p:ext uri="{BB962C8B-B14F-4D97-AF65-F5344CB8AC3E}">
        <p14:creationId xmlns:p14="http://schemas.microsoft.com/office/powerpoint/2010/main" val="77363194"/>
      </p:ext>
    </p:extLst>
  </p:cSld>
</p:sld>
</file>

<file path=ppt/slides/slide2.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9B55CD1E-6420-4984-81A7-BCE23A24770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4227E3AA-1233-41D6-A3FD-8514C55603C0}"/>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POC is eligible only inside these guardrails</a:t>
            </a:r>
          </a:p>
        </p:txBody>
      </p:sp>
      <p:sp>
        <p:nvSpPr>
          <p:cNvPr id="3" name="Rounded-Rectangle-1-4">
            <a:extLst xmlns:a="http://schemas.openxmlformats.org/drawingml/2006/main">
              <a:ext uri="{FF2B5EF4-FFF2-40B4-BE49-F238E27FC236}">
                <a16:creationId xmlns:a16="http://schemas.microsoft.com/office/drawing/2014/main" id="{DF10CCE4-C505-4ADB-9551-0A4A4E5A6473}"/>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DDEFD7"/>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Content-Placeholder-10-5">
            <a:extLst xmlns:a="http://schemas.openxmlformats.org/drawingml/2006/main">
              <a:ext uri="{FF2B5EF4-FFF2-40B4-BE49-F238E27FC236}">
                <a16:creationId xmlns:a16="http://schemas.microsoft.com/office/drawing/2014/main" id="{CE9B80CA-58AF-40BF-870C-76DFFFD58009}"/>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ALLOWED NOW</a:t>
            </a:r>
          </a:p>
        </p:txBody>
      </p:sp>
      <p:sp>
        <p:nvSpPr>
          <p:cNvPr id="5" name="Content-Placeholder-15-6">
            <a:extLst xmlns:a="http://schemas.openxmlformats.org/drawingml/2006/main">
              <a:ext uri="{FF2B5EF4-FFF2-40B4-BE49-F238E27FC236}">
                <a16:creationId xmlns:a16="http://schemas.microsoft.com/office/drawing/2014/main" id="{64809A90-0E56-4D83-9BF0-646D04106442}"/>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Enterprise-built and internally hosted</a:t>
            </a:r>
          </a:p>
          <a:p xmlns:a="http://schemas.openxmlformats.org/drawingml/2006/main">
            <a:pPr algn="l">
              <a:buNone/>
              <a:defRPr sz="1600">
                <a:solidFill>
                  <a:srgbClr val="000000"/>
                </a:solidFill>
                <a:latin typeface="Helvetica Neue"/>
                <a:ea typeface="Helvetica Neue"/>
                <a:cs typeface="Helvetica Neue"/>
              </a:defRPr>
            </a:pPr>
            <a:r>
              <a:t>API tools only—no resources</a:t>
            </a:r>
          </a:p>
          <a:p xmlns:a="http://schemas.openxmlformats.org/drawingml/2006/main">
            <a:pPr algn="l">
              <a:buNone/>
              <a:defRPr sz="1600">
                <a:solidFill>
                  <a:srgbClr val="000000"/>
                </a:solidFill>
                <a:latin typeface="Helvetica Neue"/>
                <a:ea typeface="Helvetica Neue"/>
                <a:cs typeface="Helvetica Neue"/>
              </a:defRPr>
            </a:pPr>
            <a:r>
              <a:t>Read-only internal data</a:t>
            </a:r>
          </a:p>
        </p:txBody>
      </p:sp>
      <p:sp>
        <p:nvSpPr>
          <p:cNvPr id="6" name="Rounded-Rectangle-7-7">
            <a:extLst xmlns:a="http://schemas.openxmlformats.org/drawingml/2006/main">
              <a:ext uri="{FF2B5EF4-FFF2-40B4-BE49-F238E27FC236}">
                <a16:creationId xmlns:a16="http://schemas.microsoft.com/office/drawing/2014/main" id="{EE4E2399-004C-4338-91C6-3774F257A662}"/>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FE0DE"/>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Content-Placeholder-10-8">
            <a:extLst xmlns:a="http://schemas.openxmlformats.org/drawingml/2006/main">
              <a:ext uri="{FF2B5EF4-FFF2-40B4-BE49-F238E27FC236}">
                <a16:creationId xmlns:a16="http://schemas.microsoft.com/office/drawing/2014/main" id="{AC9EA4EC-4EF3-448B-8335-68812F4BC30D}"/>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NOT ALLOWED</a:t>
            </a:r>
          </a:p>
        </p:txBody>
      </p:sp>
      <p:sp>
        <p:nvSpPr>
          <p:cNvPr id="8" name="Content-Placeholder-15-9">
            <a:extLst xmlns:a="http://schemas.openxmlformats.org/drawingml/2006/main">
              <a:ext uri="{FF2B5EF4-FFF2-40B4-BE49-F238E27FC236}">
                <a16:creationId xmlns:a16="http://schemas.microsoft.com/office/drawing/2014/main" id="{803B5F4F-47FE-45BB-BC09-4C66270F4F78}"/>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Customer-facing or delegated access</a:t>
            </a:r>
          </a:p>
          <a:p xmlns:a="http://schemas.openxmlformats.org/drawingml/2006/main">
            <a:pPr algn="l">
              <a:buNone/>
              <a:defRPr sz="1600">
                <a:solidFill>
                  <a:srgbClr val="000000"/>
                </a:solidFill>
                <a:latin typeface="Helvetica Neue"/>
                <a:ea typeface="Helvetica Neue"/>
                <a:cs typeface="Helvetica Neue"/>
              </a:defRPr>
            </a:pPr>
            <a:r>
              <a:t>External / third-party hosting</a:t>
            </a:r>
          </a:p>
          <a:p xmlns:a="http://schemas.openxmlformats.org/drawingml/2006/main">
            <a:pPr algn="l">
              <a:buNone/>
              <a:defRPr sz="1600">
                <a:solidFill>
                  <a:srgbClr val="000000"/>
                </a:solidFill>
                <a:latin typeface="Helvetica Neue"/>
                <a:ea typeface="Helvetica Neue"/>
                <a:cs typeface="Helvetica Neue"/>
              </a:defRPr>
            </a:pPr>
            <a:r>
              <a:t>DB, filesystem, or AI-agent execution</a:t>
            </a:r>
          </a:p>
        </p:txBody>
      </p:sp>
      <p:sp>
        <p:nvSpPr>
          <p:cNvPr id="9" name="Content-Placeholder-15-10">
            <a:extLst xmlns:a="http://schemas.openxmlformats.org/drawingml/2006/main">
              <a:ext uri="{FF2B5EF4-FFF2-40B4-BE49-F238E27FC236}">
                <a16:creationId xmlns:a16="http://schemas.microsoft.com/office/drawing/2014/main" id="{FED0D668-58EA-457D-84AC-951275906FFF}"/>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Internal engineering use only. MCP servers expose named, read-only API tools; they do not access databases, files, customer data, external services, or agents.</a:t>
            </a:r>
          </a:p>
        </p:txBody>
      </p:sp>
    </p:spTree>
    <p:extLst>
      <p:ext uri="{BB962C8B-B14F-4D97-AF65-F5344CB8AC3E}">
        <p14:creationId xmlns:p14="http://schemas.microsoft.com/office/powerpoint/2010/main" val="82173687"/>
      </p:ext>
    </p:extLst>
  </p:cSld>
</p:sld>
</file>

<file path=ppt/slides/slide3.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BCD3B8F3-88A2-4018-96D8-66787E47D8E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2" name="Title-10-3">
            <a:extLst xmlns:a="http://schemas.openxmlformats.org/drawingml/2006/main">
              <a:ext uri="{FF2B5EF4-FFF2-40B4-BE49-F238E27FC236}">
                <a16:creationId xmlns:a16="http://schemas.microsoft.com/office/drawing/2014/main" id="{CF13307C-3233-423D-AB77-CBFCB675C49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One runtime path; registry stays in the control plane</a:t>
            </a:r>
          </a:p>
        </p:txBody>
      </p:sp>
      <p:cxnSp>
        <p:nvCxnSpPr>
          <p:cNvPr id="63"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19050">
            <a:solidFill>
              <a:srgbClr val="AEB9B4"/>
            </a:solidFill>
            <a:prstDash val="solid"/>
          </a:ln>
        </p:spPr>
      </p:cxnSp>
      <p:sp>
        <p:nvSpPr>
          <p:cNvPr id="4" name="Google-Shape-2260-p159-5">
            <a:extLst xmlns:a="http://schemas.openxmlformats.org/drawingml/2006/main">
              <a:ext uri="{FF2B5EF4-FFF2-40B4-BE49-F238E27FC236}">
                <a16:creationId xmlns:a16="http://schemas.microsoft.com/office/drawing/2014/main" id="{5195D905-F100-4162-8E1A-99A987C865C8}"/>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79A96B"/>
          </a:solidFill>
          <a:ln xmlns:a="http://schemas.openxmlformats.org/drawingml/2006/main" w="9525">
            <a:solidFill>
              <a:srgbClr val="79A96B"/>
            </a:solidFill>
            <a:prstDash val="solid"/>
          </a:ln>
        </p:spPr>
      </p:sp>
      <p:sp>
        <p:nvSpPr>
          <p:cNvPr id="5" name="Google-Shape-2261-p159-6">
            <a:extLst xmlns:a="http://schemas.openxmlformats.org/drawingml/2006/main">
              <a:ext uri="{FF2B5EF4-FFF2-40B4-BE49-F238E27FC236}">
                <a16:creationId xmlns:a16="http://schemas.microsoft.com/office/drawing/2014/main" id="{E1756207-42CD-4B14-9F9D-240C833F2792}"/>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9C83E8"/>
          </a:solidFill>
          <a:ln xmlns:a="http://schemas.openxmlformats.org/drawingml/2006/main" w="9525">
            <a:solidFill>
              <a:srgbClr val="9C83E8"/>
            </a:solidFill>
            <a:prstDash val="solid"/>
          </a:ln>
        </p:spPr>
      </p:sp>
      <p:sp>
        <p:nvSpPr>
          <p:cNvPr id="6" name="Google-Shape-2262-p159-7">
            <a:extLst xmlns:a="http://schemas.openxmlformats.org/drawingml/2006/main">
              <a:ext uri="{FF2B5EF4-FFF2-40B4-BE49-F238E27FC236}">
                <a16:creationId xmlns:a16="http://schemas.microsoft.com/office/drawing/2014/main" id="{AFAFCBF5-5B63-4D09-8978-817821FEBEC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F28B82"/>
          </a:solidFill>
          <a:ln xmlns:a="http://schemas.openxmlformats.org/drawingml/2006/main" w="9525">
            <a:solidFill>
              <a:srgbClr val="F28B82"/>
            </a:solidFill>
            <a:prstDash val="solid"/>
          </a:ln>
        </p:spPr>
      </p:sp>
      <p:sp>
        <p:nvSpPr>
          <p:cNvPr id="7" name="Content-Placeholder-15-8">
            <a:extLst xmlns:a="http://schemas.openxmlformats.org/drawingml/2006/main">
              <a:ext uri="{FF2B5EF4-FFF2-40B4-BE49-F238E27FC236}">
                <a16:creationId xmlns:a16="http://schemas.microsoft.com/office/drawing/2014/main" id="{B351054A-6569-4F18-B619-18441BB6C3DD}"/>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CONNECT</a:t>
            </a:r>
          </a:p>
        </p:txBody>
      </p:sp>
      <p:sp>
        <p:nvSpPr>
          <p:cNvPr id="8" name="Content-Placeholder-15-9">
            <a:extLst xmlns:a="http://schemas.openxmlformats.org/drawingml/2006/main">
              <a:ext uri="{FF2B5EF4-FFF2-40B4-BE49-F238E27FC236}">
                <a16:creationId xmlns:a16="http://schemas.microsoft.com/office/drawing/2014/main" id="{2A7EE0D5-790E-4022-87D4-1B404D8C2A61}"/>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CONTROL</a:t>
            </a:r>
          </a:p>
        </p:txBody>
      </p:sp>
      <p:sp>
        <p:nvSpPr>
          <p:cNvPr id="9" name="Content-Placeholder-15-10">
            <a:extLst xmlns:a="http://schemas.openxmlformats.org/drawingml/2006/main">
              <a:ext uri="{FF2B5EF4-FFF2-40B4-BE49-F238E27FC236}">
                <a16:creationId xmlns:a16="http://schemas.microsoft.com/office/drawing/2014/main" id="{353E150B-4765-4840-AAE4-83F5A6E14781}"/>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EXECUTE</a:t>
            </a:r>
          </a:p>
        </p:txBody>
      </p:sp>
      <p:sp>
        <p:nvSpPr>
          <p:cNvPr id="10" name="Text-Placeholder-16-11">
            <a:extLst xmlns:a="http://schemas.openxmlformats.org/drawingml/2006/main">
              <a:ext uri="{FF2B5EF4-FFF2-40B4-BE49-F238E27FC236}">
                <a16:creationId xmlns:a16="http://schemas.microsoft.com/office/drawing/2014/main" id="{AB92F137-5C86-4B42-990A-5362F85B0971}"/>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Registry ⇢ Gateway policy</a:t>
            </a:r>
          </a:p>
          <a:p xmlns:a="http://schemas.openxmlformats.org/drawingml/2006/main">
            <a:pPr algn="l">
              <a:buNone/>
              <a:defRPr sz="2400">
                <a:solidFill>
                  <a:srgbClr val="000000"/>
                </a:solidFill>
                <a:latin typeface="Helvetica Neue"/>
                <a:ea typeface="Helvetica Neue"/>
                <a:cs typeface="Helvetica Neue"/>
              </a:defRPr>
            </a:pPr>
            <a:r>
              <a:t>Signed tool metadata is published out of band. Gateway authorizes every call.</a:t>
            </a:r>
          </a:p>
        </p:txBody>
      </p:sp>
      <p:sp>
        <p:nvSpPr>
          <p:cNvPr id="11" name="Text-Placeholder-16-12">
            <a:extLst xmlns:a="http://schemas.openxmlformats.org/drawingml/2006/main">
              <a:ext uri="{FF2B5EF4-FFF2-40B4-BE49-F238E27FC236}">
                <a16:creationId xmlns:a16="http://schemas.microsoft.com/office/drawing/2014/main" id="{D5318A2E-22B1-4F83-BA05-021084440112}"/>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Approved IDE → Gateway</a:t>
            </a:r>
          </a:p>
          <a:p xmlns:a="http://schemas.openxmlformats.org/drawingml/2006/main">
            <a:pPr algn="l">
              <a:buNone/>
              <a:defRPr sz="2400">
                <a:solidFill>
                  <a:srgbClr val="000000"/>
                </a:solidFill>
                <a:latin typeface="Helvetica Neue"/>
                <a:ea typeface="Helvetica Neue"/>
                <a:cs typeface="Helvetica Neue"/>
              </a:defRPr>
            </a:pPr>
            <a:r>
              <a:t>VS Code sends one internal request. Gateway authenticates and starts the trace.</a:t>
            </a:r>
          </a:p>
        </p:txBody>
      </p:sp>
      <p:sp>
        <p:nvSpPr>
          <p:cNvPr id="12" name="Text-Placeholder-16-13">
            <a:extLst xmlns:a="http://schemas.openxmlformats.org/drawingml/2006/main">
              <a:ext uri="{FF2B5EF4-FFF2-40B4-BE49-F238E27FC236}">
                <a16:creationId xmlns:a16="http://schemas.microsoft.com/office/drawing/2014/main" id="{45D5A72D-E109-4D75-A171-FBACC141E2DF}"/>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Gateway → MCP Server → API tool</a:t>
            </a:r>
          </a:p>
          <a:p xmlns:a="http://schemas.openxmlformats.org/drawingml/2006/main">
            <a:pPr algn="l">
              <a:buNone/>
              <a:defRPr sz="2400">
                <a:solidFill>
                  <a:srgbClr val="000000"/>
                </a:solidFill>
                <a:latin typeface="Helvetica Neue"/>
                <a:ea typeface="Helvetica Neue"/>
                <a:cs typeface="Helvetica Neue"/>
              </a:defRPr>
            </a:pPr>
            <a:r>
              <a:t>Named read-only API calls only. No DB, filesystem, resources, or agents.</a:t>
            </a:r>
          </a:p>
        </p:txBody>
      </p:sp>
    </p:spTree>
    <p:extLst>
      <p:ext uri="{BB962C8B-B14F-4D97-AF65-F5344CB8AC3E}">
        <p14:creationId xmlns:p14="http://schemas.microsoft.com/office/powerpoint/2010/main" val="1932543646"/>
      </p:ext>
    </p:extLst>
  </p:cSld>
</p:sld>
</file>

<file path=ppt/slides/slide4.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A3DAEB88-3F50-4DC6-8C5F-816798438B8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41307535-7EFB-4D3C-95D8-B2B5F27974E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diagnosis uses API tools only</a:t>
            </a:r>
          </a:p>
        </p:txBody>
      </p:sp>
      <p:sp>
        <p:nvSpPr>
          <p:cNvPr id="3" name="Picture-3-4-backing">
            <a:extLst xmlns:a="http://schemas.openxmlformats.org/drawingml/2006/main">
              <a:ext uri="{FF2B5EF4-FFF2-40B4-BE49-F238E27FC236}">
                <a16:creationId xmlns:a16="http://schemas.microsoft.com/office/drawing/2014/main" id="{330EC1DC-A6AF-4766-AC10-FFA52D365E7C}"/>
              </a:ext>
            </a:extLst>
          </p:cNvPr>
          <p:cNvSpPr>
            <a:spLocks xmlns:a="http://schemas.openxmlformats.org/drawingml/2006/main" noGrp="1"/>
          </p:cNvSpPr>
          <p:nvPr/>
        </p:nvSpPr>
        <p:spPr>
          <a:xfrm xmlns:a="http://schemas.openxmlformats.org/drawingml/2006/main">
            <a:off x="393668" y="1571625"/>
            <a:ext cx="10934700" cy="4810125"/>
          </a:xfrm>
          <a:prstGeom xmlns:a="http://schemas.openxmlformats.org/drawingml/2006/main" prst="roundRect">
            <a:avLst>
              <a:gd name="adj" fmla="val 1376"/>
            </a:avLst>
          </a:prstGeom>
          <a:noFill xmlns:a="http://schemas.openxmlformats.org/drawingml/2006/main"/>
          <a:ln xmlns:a="http://schemas.openxmlformats.org/drawingml/2006/main" w="14288">
            <a:solidFill>
              <a:srgbClr val="DDE7E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Google-Shape-534-p58-5">
            <a:extLst xmlns:a="http://schemas.openxmlformats.org/drawingml/2006/main">
              <a:ext uri="{FF2B5EF4-FFF2-40B4-BE49-F238E27FC236}">
                <a16:creationId xmlns:a16="http://schemas.microsoft.com/office/drawing/2014/main" id="{209DDD79-2E97-4E6E-AD30-923BAF4B7A21}"/>
              </a:ext>
            </a:extLst>
          </p:cNvPr>
          <p:cNvSpPr>
            <a:spLocks xmlns:a="http://schemas.openxmlformats.org/drawingml/2006/main" noGrp="1"/>
          </p:cNvSpPr>
          <p:nvPr/>
        </p:nvSpPr>
        <p:spPr>
          <a:xfrm xmlns:a="http://schemas.openxmlformats.org/drawingml/2006/main">
            <a:off x="393668" y="1000125"/>
            <a:ext cx="11404568"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Internally hosted • read-only internal APIs • no delegated downstream access.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e54ce48a571498b"/>
          <a:stretch xmlns:a="http://schemas.openxmlformats.org/drawingml/2006/main"/>
        </p:blipFill>
        <p:spPr>
          <a:xfrm xmlns:a="http://schemas.openxmlformats.org/drawingml/2006/main">
            <a:off x="1510001" y="1733550"/>
            <a:ext cx="8733847" cy="4495800"/>
          </a:xfrm>
          <a:prstGeom xmlns:a="http://schemas.openxmlformats.org/drawingml/2006/main" prst="rect">
            <a:avLst/>
          </a:prstGeom>
        </p:spPr>
      </p:pic>
    </p:spTree>
    <p:extLst>
      <p:ext uri="{BB962C8B-B14F-4D97-AF65-F5344CB8AC3E}">
        <p14:creationId xmlns:p14="http://schemas.microsoft.com/office/powerpoint/2010/main" val="1352646561"/>
      </p:ext>
    </p:extLst>
  </p:cSld>
</p:sld>
</file>

<file path=ppt/slides/slide5.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27198010-447A-4DC9-8CC2-F572A550734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689C0CD0-BA5A-43BC-974B-7B5BC2698CE5}"/>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Three controls keep every tool inside the guardrails</a:t>
            </a:r>
          </a:p>
        </p:txBody>
      </p:sp>
      <p:sp>
        <p:nvSpPr>
          <p:cNvPr id="3" name="Rounded-Rectangle-9-4">
            <a:extLst xmlns:a="http://schemas.openxmlformats.org/drawingml/2006/main">
              <a:ext uri="{FF2B5EF4-FFF2-40B4-BE49-F238E27FC236}">
                <a16:creationId xmlns:a16="http://schemas.microsoft.com/office/drawing/2014/main" id="{3CAE9E24-8005-4F44-B8A8-538E87530F5B}"/>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DCE8FF"/>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Rounded-Rectangle-10-5">
            <a:extLst xmlns:a="http://schemas.openxmlformats.org/drawingml/2006/main">
              <a:ext uri="{FF2B5EF4-FFF2-40B4-BE49-F238E27FC236}">
                <a16:creationId xmlns:a16="http://schemas.microsoft.com/office/drawing/2014/main" id="{1ABD2A00-C376-4486-8318-5E9E5401A98A}"/>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FE0DE"/>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Content-Placeholder-9-6">
            <a:extLst xmlns:a="http://schemas.openxmlformats.org/drawingml/2006/main">
              <a:ext uri="{FF2B5EF4-FFF2-40B4-BE49-F238E27FC236}">
                <a16:creationId xmlns:a16="http://schemas.microsoft.com/office/drawing/2014/main" id="{D80C9517-21CA-4588-8279-4C908D3A82AF}"/>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Gateway</a:t>
            </a:r>
          </a:p>
          <a:p xmlns:a="http://schemas.openxmlformats.org/drawingml/2006/main">
            <a:pPr algn="l">
              <a:buNone/>
              <a:defRPr sz="2400">
                <a:solidFill>
                  <a:srgbClr val="000000"/>
                </a:solidFill>
                <a:latin typeface="Helvetica Neue"/>
                <a:ea typeface="Helvetica Neue"/>
                <a:cs typeface="Helvetica Neue"/>
              </a:defRPr>
            </a:pPr>
            <a:r>
              <a:t>Identity + authorization</a:t>
            </a:r>
          </a:p>
          <a:p xmlns:a="http://schemas.openxmlformats.org/drawingml/2006/main">
            <a:pPr algn="l">
              <a:buNone/>
              <a:defRPr sz="2400">
                <a:solidFill>
                  <a:srgbClr val="000000"/>
                </a:solidFill>
                <a:latin typeface="Helvetica Neue"/>
                <a:ea typeface="Helvetica Neue"/>
                <a:cs typeface="Helvetica Neue"/>
              </a:defRPr>
            </a:pPr>
            <a:r>
              <a:t>Route + trace</a:t>
            </a:r>
          </a:p>
        </p:txBody>
      </p:sp>
      <p:sp>
        <p:nvSpPr>
          <p:cNvPr id="6" name="Content-Placeholder-10-7">
            <a:extLst xmlns:a="http://schemas.openxmlformats.org/drawingml/2006/main">
              <a:ext uri="{FF2B5EF4-FFF2-40B4-BE49-F238E27FC236}">
                <a16:creationId xmlns:a16="http://schemas.microsoft.com/office/drawing/2014/main" id="{15253FD9-B7F1-468B-9877-D5E342791AD9}"/>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Server + API wrapper</a:t>
            </a:r>
          </a:p>
          <a:p xmlns:a="http://schemas.openxmlformats.org/drawingml/2006/main">
            <a:pPr algn="l">
              <a:buNone/>
              <a:defRPr sz="2400">
                <a:solidFill>
                  <a:srgbClr val="000000"/>
                </a:solidFill>
                <a:latin typeface="Helvetica Neue"/>
                <a:ea typeface="Helvetica Neue"/>
                <a:cs typeface="Helvetica Neue"/>
              </a:defRPr>
            </a:pPr>
            <a:r>
              <a:t>Named read-only operations</a:t>
            </a:r>
          </a:p>
          <a:p xmlns:a="http://schemas.openxmlformats.org/drawingml/2006/main">
            <a:pPr algn="l">
              <a:buNone/>
              <a:defRPr sz="2400">
                <a:solidFill>
                  <a:srgbClr val="000000"/>
                </a:solidFill>
                <a:latin typeface="Helvetica Neue"/>
                <a:ea typeface="Helvetica Neue"/>
                <a:cs typeface="Helvetica Neue"/>
              </a:defRPr>
            </a:pPr>
            <a:r>
              <a:t>No DB, files, resources, agents</a:t>
            </a:r>
          </a:p>
        </p:txBody>
      </p:sp>
      <p:sp>
        <p:nvSpPr>
          <p:cNvPr id="7" name="Google-Shape-340-p61-8">
            <a:extLst xmlns:a="http://schemas.openxmlformats.org/drawingml/2006/main">
              <a:ext uri="{FF2B5EF4-FFF2-40B4-BE49-F238E27FC236}">
                <a16:creationId xmlns:a16="http://schemas.microsoft.com/office/drawing/2014/main" id="{5C416F65-2F71-452E-8574-4E9D6B8B19CC}"/>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7AA6F8"/>
          </a:solidFill>
          <a:ln xmlns:a="http://schemas.openxmlformats.org/drawingml/2006/main" w="9525">
            <a:solidFill>
              <a:srgbClr val="7AA6F8"/>
            </a:solidFill>
            <a:prstDash val="solid"/>
          </a:ln>
        </p:spPr>
      </p:sp>
      <p:sp>
        <p:nvSpPr>
          <p:cNvPr id="8" name="Google-Shape-340-p61-9">
            <a:extLst xmlns:a="http://schemas.openxmlformats.org/drawingml/2006/main">
              <a:ext uri="{FF2B5EF4-FFF2-40B4-BE49-F238E27FC236}">
                <a16:creationId xmlns:a16="http://schemas.microsoft.com/office/drawing/2014/main" id="{679A0F2D-2267-4D23-AF6F-F8ECAF2F3A39}"/>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F28B82"/>
          </a:solidFill>
          <a:ln xmlns:a="http://schemas.openxmlformats.org/drawingml/2006/main" w="9525">
            <a:solidFill>
              <a:srgbClr val="F28B82"/>
            </a:solidFill>
            <a:prstDash val="solid"/>
          </a:ln>
        </p:spPr>
      </p:sp>
      <p:sp>
        <p:nvSpPr>
          <p:cNvPr id="9" name="Rounded-Rectangle-5-10">
            <a:extLst xmlns:a="http://schemas.openxmlformats.org/drawingml/2006/main">
              <a:ext uri="{FF2B5EF4-FFF2-40B4-BE49-F238E27FC236}">
                <a16:creationId xmlns:a16="http://schemas.microsoft.com/office/drawing/2014/main" id="{20BE4556-D88E-4738-8B59-B2DE6B6505F4}"/>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DDEFD7"/>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Content-Placeholder-9-11">
            <a:extLst xmlns:a="http://schemas.openxmlformats.org/drawingml/2006/main">
              <a:ext uri="{FF2B5EF4-FFF2-40B4-BE49-F238E27FC236}">
                <a16:creationId xmlns:a16="http://schemas.microsoft.com/office/drawing/2014/main" id="{BBB3110C-A1F9-4E9A-8018-43FD2C538681}"/>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Registry</a:t>
            </a:r>
          </a:p>
          <a:p xmlns:a="http://schemas.openxmlformats.org/drawingml/2006/main">
            <a:pPr algn="l">
              <a:buNone/>
              <a:defRPr sz="2400">
                <a:solidFill>
                  <a:srgbClr val="000000"/>
                </a:solidFill>
                <a:latin typeface="Helvetica Neue"/>
                <a:ea typeface="Helvetica Neue"/>
                <a:cs typeface="Helvetica Neue"/>
              </a:defRPr>
            </a:pPr>
            <a:r>
              <a:t>Approved tools + versions</a:t>
            </a:r>
          </a:p>
          <a:p xmlns:a="http://schemas.openxmlformats.org/drawingml/2006/main">
            <a:pPr algn="l">
              <a:buNone/>
              <a:defRPr sz="2400">
                <a:solidFill>
                  <a:srgbClr val="000000"/>
                </a:solidFill>
                <a:latin typeface="Helvetica Neue"/>
                <a:ea typeface="Helvetica Neue"/>
                <a:cs typeface="Helvetica Neue"/>
              </a:defRPr>
            </a:pPr>
            <a:r>
              <a:t>Schemas + risk class</a:t>
            </a:r>
          </a:p>
        </p:txBody>
      </p:sp>
      <p:sp>
        <p:nvSpPr>
          <p:cNvPr id="11" name="Google-Shape-340-p61-12">
            <a:extLst xmlns:a="http://schemas.openxmlformats.org/drawingml/2006/main">
              <a:ext uri="{FF2B5EF4-FFF2-40B4-BE49-F238E27FC236}">
                <a16:creationId xmlns:a16="http://schemas.microsoft.com/office/drawing/2014/main" id="{F84A898A-06F0-4785-B7D7-8B169F97EB50}"/>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79A96B"/>
          </a:solidFill>
          <a:ln xmlns:a="http://schemas.openxmlformats.org/drawingml/2006/main" w="9525">
            <a:solidFill>
              <a:srgbClr val="79A96B"/>
            </a:solidFill>
            <a:prstDash val="solid"/>
          </a:ln>
        </p:spPr>
      </p:sp>
      <p:sp>
        <p:nvSpPr>
          <p:cNvPr id="12" name="Content-Placeholder-15-13">
            <a:extLst xmlns:a="http://schemas.openxmlformats.org/drawingml/2006/main">
              <a:ext uri="{FF2B5EF4-FFF2-40B4-BE49-F238E27FC236}">
                <a16:creationId xmlns:a16="http://schemas.microsoft.com/office/drawing/2014/main" id="{8B6DDCDF-6CE7-4193-980F-757FE8FA4F41}"/>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Each layer has one job. No server can bypass the gateway or expand the allowed capability type.</a:t>
            </a:r>
          </a:p>
        </p:txBody>
      </p:sp>
    </p:spTree>
    <p:extLst>
      <p:ext uri="{BB962C8B-B14F-4D97-AF65-F5344CB8AC3E}">
        <p14:creationId xmlns:p14="http://schemas.microsoft.com/office/powerpoint/2010/main" val="1819258991"/>
      </p:ext>
    </p:extLst>
  </p:cSld>
</p:sld>
</file>

<file path=ppt/slides/slide6.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25982D57-AFF5-436B-83E2-1E7FDEFF426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6</a:t>
            </a:r>
          </a:p>
        </p:txBody>
      </p:sp>
      <p:sp>
        <p:nvSpPr>
          <p:cNvPr id="2" name="Title-10-3">
            <a:extLst xmlns:a="http://schemas.openxmlformats.org/drawingml/2006/main">
              <a:ext uri="{FF2B5EF4-FFF2-40B4-BE49-F238E27FC236}">
                <a16:creationId xmlns:a16="http://schemas.microsoft.com/office/drawing/2014/main" id="{4E7201B0-386D-42A2-9D92-908E81C3501E}"/>
              </a:ext>
            </a:extLst>
          </p:cNvPr>
          <p:cNvSpPr>
            <a:spLocks xmlns:a="http://schemas.openxmlformats.org/drawingml/2006/main" noGrp="1"/>
          </p:cNvSpPr>
          <p:nvPr/>
        </p:nvSpPr>
        <p:spPr>
          <a:xfrm xmlns:a="http://schemas.openxmlformats.org/drawingml/2006/main">
            <a:off x="609600" y="344043"/>
            <a:ext cx="11188637"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POC is one vertical slice with three proof gates</a:t>
            </a:r>
          </a:p>
        </p:txBody>
      </p:sp>
      <p:cxnSp>
        <p:nvCxnSpPr>
          <p:cNvPr id="66"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19050">
            <a:solidFill>
              <a:srgbClr val="AEB9B4"/>
            </a:solidFill>
            <a:prstDash val="solid"/>
          </a:ln>
        </p:spPr>
      </p:cxnSp>
      <p:sp>
        <p:nvSpPr>
          <p:cNvPr id="4" name="Google-Shape-2260-p159-5">
            <a:extLst xmlns:a="http://schemas.openxmlformats.org/drawingml/2006/main">
              <a:ext uri="{FF2B5EF4-FFF2-40B4-BE49-F238E27FC236}">
                <a16:creationId xmlns:a16="http://schemas.microsoft.com/office/drawing/2014/main" id="{CC15E7C6-88CC-4330-9EAD-54B81BE84B07}"/>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79A96B"/>
          </a:solidFill>
          <a:ln xmlns:a="http://schemas.openxmlformats.org/drawingml/2006/main" w="9525">
            <a:solidFill>
              <a:srgbClr val="79A96B"/>
            </a:solidFill>
            <a:prstDash val="solid"/>
          </a:ln>
        </p:spPr>
      </p:sp>
      <p:sp>
        <p:nvSpPr>
          <p:cNvPr id="5" name="Google-Shape-2261-p159-6">
            <a:extLst xmlns:a="http://schemas.openxmlformats.org/drawingml/2006/main">
              <a:ext uri="{FF2B5EF4-FFF2-40B4-BE49-F238E27FC236}">
                <a16:creationId xmlns:a16="http://schemas.microsoft.com/office/drawing/2014/main" id="{B4B0A3FD-199C-4C30-B87C-B659A5324254}"/>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7AA6F8"/>
          </a:solidFill>
          <a:ln xmlns:a="http://schemas.openxmlformats.org/drawingml/2006/main" w="9525">
            <a:solidFill>
              <a:srgbClr val="7AA6F8"/>
            </a:solidFill>
            <a:prstDash val="solid"/>
          </a:ln>
        </p:spPr>
      </p:sp>
      <p:sp>
        <p:nvSpPr>
          <p:cNvPr id="6" name="Google-Shape-2262-p159-7">
            <a:extLst xmlns:a="http://schemas.openxmlformats.org/drawingml/2006/main">
              <a:ext uri="{FF2B5EF4-FFF2-40B4-BE49-F238E27FC236}">
                <a16:creationId xmlns:a16="http://schemas.microsoft.com/office/drawing/2014/main" id="{DAD945B3-CD22-438D-8E61-87EB0A102675}"/>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F28B82"/>
          </a:solidFill>
          <a:ln xmlns:a="http://schemas.openxmlformats.org/drawingml/2006/main" w="9525">
            <a:solidFill>
              <a:srgbClr val="F28B82"/>
            </a:solidFill>
            <a:prstDash val="solid"/>
          </a:ln>
        </p:spPr>
      </p:sp>
      <p:sp>
        <p:nvSpPr>
          <p:cNvPr id="7" name="Rounded-Rectangle-19-8">
            <a:extLst xmlns:a="http://schemas.openxmlformats.org/drawingml/2006/main">
              <a:ext uri="{FF2B5EF4-FFF2-40B4-BE49-F238E27FC236}">
                <a16:creationId xmlns:a16="http://schemas.microsoft.com/office/drawing/2014/main" id="{4E65101B-66C6-470E-BA0D-3C98D0B11E60}"/>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DDEFD7"/>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Content-Placeholder-8-9">
            <a:extLst xmlns:a="http://schemas.openxmlformats.org/drawingml/2006/main">
              <a:ext uri="{FF2B5EF4-FFF2-40B4-BE49-F238E27FC236}">
                <a16:creationId xmlns:a16="http://schemas.microsoft.com/office/drawing/2014/main" id="{43A0C5B2-C549-42FF-83BE-8DC05CFFB705}"/>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Freeze the contract</a:t>
            </a:r>
          </a:p>
          <a:p xmlns:a="http://schemas.openxmlformats.org/drawingml/2006/main">
            <a:pPr algn="l">
              <a:buNone/>
              <a:defRPr sz="1600">
                <a:solidFill>
                  <a:srgbClr val="000000"/>
                </a:solidFill>
                <a:latin typeface="Helvetica Neue"/>
                <a:ea typeface="Helvetica Neue"/>
                <a:cs typeface="Helvetica Neue"/>
              </a:defRPr>
            </a:pPr>
            <a:r>
              <a:t>One client, one gateway route, and named Work Item and Config Check API tools.</a:t>
            </a:r>
          </a:p>
        </p:txBody>
      </p:sp>
      <p:sp>
        <p:nvSpPr>
          <p:cNvPr id="9" name="Rounded-Rectangle-21-10">
            <a:extLst xmlns:a="http://schemas.openxmlformats.org/drawingml/2006/main">
              <a:ext uri="{FF2B5EF4-FFF2-40B4-BE49-F238E27FC236}">
                <a16:creationId xmlns:a16="http://schemas.microsoft.com/office/drawing/2014/main" id="{0A553E8F-B663-472E-A8C1-0BB6186575D1}"/>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DCE8FF"/>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Content-Placeholder-8-11">
            <a:extLst xmlns:a="http://schemas.openxmlformats.org/drawingml/2006/main">
              <a:ext uri="{FF2B5EF4-FFF2-40B4-BE49-F238E27FC236}">
                <a16:creationId xmlns:a16="http://schemas.microsoft.com/office/drawing/2014/main" id="{038CA516-4ADD-4235-B1A9-BD0A526B2650}"/>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Run the diagnosis</a:t>
            </a:r>
          </a:p>
          <a:p xmlns:a="http://schemas.openxmlformats.org/drawingml/2006/main">
            <a:pPr algn="l">
              <a:buNone/>
              <a:defRPr sz="1600">
                <a:solidFill>
                  <a:srgbClr val="000000"/>
                </a:solidFill>
                <a:latin typeface="Helvetica Neue"/>
                <a:ea typeface="Helvetica Neue"/>
                <a:cs typeface="Helvetica Neue"/>
              </a:defRPr>
            </a:pPr>
            <a:r>
              <a:t>Read participant and life-event APIs; if data is incomplete, follow the fixed config-check branch.</a:t>
            </a:r>
          </a:p>
        </p:txBody>
      </p:sp>
      <p:sp>
        <p:nvSpPr>
          <p:cNvPr id="11" name="Rounded-Rectangle-23-12">
            <a:extLst xmlns:a="http://schemas.openxmlformats.org/drawingml/2006/main">
              <a:ext uri="{FF2B5EF4-FFF2-40B4-BE49-F238E27FC236}">
                <a16:creationId xmlns:a16="http://schemas.microsoft.com/office/drawing/2014/main" id="{A1248E77-A834-4AFD-BB55-C079C1D5C8EA}"/>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FE0DE"/>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Content-Placeholder-8-13">
            <a:extLst xmlns:a="http://schemas.openxmlformats.org/drawingml/2006/main">
              <a:ext uri="{FF2B5EF4-FFF2-40B4-BE49-F238E27FC236}">
                <a16:creationId xmlns:a16="http://schemas.microsoft.com/office/drawing/2014/main" id="{F0F93B5E-EC3A-4915-9F61-612AC9B74021}"/>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Produce evidence</a:t>
            </a:r>
          </a:p>
          <a:p xmlns:a="http://schemas.openxmlformats.org/drawingml/2006/main">
            <a:pPr algn="l">
              <a:buNone/>
              <a:defRPr sz="1600">
                <a:solidFill>
                  <a:srgbClr val="000000"/>
                </a:solidFill>
                <a:latin typeface="Helvetica Neue"/>
                <a:ea typeface="Helvetica Neue"/>
                <a:cs typeface="Helvetica Neue"/>
              </a:defRPr>
            </a:pPr>
            <a:r>
              <a:t>Correlate the trace, prove denied paths, document gaps, and choose continue, refine, or stop.</a:t>
            </a:r>
          </a:p>
        </p:txBody>
      </p:sp>
      <p:sp>
        <p:nvSpPr>
          <p:cNvPr id="13" name="Text-Placeholder-16-14">
            <a:extLst xmlns:a="http://schemas.openxmlformats.org/drawingml/2006/main">
              <a:ext uri="{FF2B5EF4-FFF2-40B4-BE49-F238E27FC236}">
                <a16:creationId xmlns:a16="http://schemas.microsoft.com/office/drawing/2014/main" id="{5F2E45A7-8FDC-426E-BF41-B9D401210FDC}"/>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DIAGNOSE</a:t>
            </a:r>
          </a:p>
        </p:txBody>
      </p:sp>
      <p:sp>
        <p:nvSpPr>
          <p:cNvPr id="14" name="Text-Placeholder-16-15">
            <a:extLst xmlns:a="http://schemas.openxmlformats.org/drawingml/2006/main">
              <a:ext uri="{FF2B5EF4-FFF2-40B4-BE49-F238E27FC236}">
                <a16:creationId xmlns:a16="http://schemas.microsoft.com/office/drawing/2014/main" id="{D18151F0-7E6C-4959-9C0F-3B8B233F74F3}"/>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CONTRACT</a:t>
            </a:r>
          </a:p>
        </p:txBody>
      </p:sp>
      <p:sp>
        <p:nvSpPr>
          <p:cNvPr id="15" name="Text-Placeholder-16-16">
            <a:extLst xmlns:a="http://schemas.openxmlformats.org/drawingml/2006/main">
              <a:ext uri="{FF2B5EF4-FFF2-40B4-BE49-F238E27FC236}">
                <a16:creationId xmlns:a16="http://schemas.microsoft.com/office/drawing/2014/main" id="{4A8C4248-9E77-43E1-80E4-D11654F9C230}"/>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EVIDENCE</a:t>
            </a:r>
          </a:p>
        </p:txBody>
      </p:sp>
    </p:spTree>
    <p:extLst>
      <p:ext uri="{BB962C8B-B14F-4D97-AF65-F5344CB8AC3E}">
        <p14:creationId xmlns:p14="http://schemas.microsoft.com/office/powerpoint/2010/main" val="1520183946"/>
      </p:ext>
    </p:extLst>
  </p:cSld>
</p:sld>
</file>

<file path=ppt/slides/slide7.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15" name="Google-Shape-532-p58-2">
            <a:extLst xmlns:a="http://schemas.openxmlformats.org/drawingml/2006/main">
              <a:ext uri="{FF2B5EF4-FFF2-40B4-BE49-F238E27FC236}">
                <a16:creationId xmlns:a16="http://schemas.microsoft.com/office/drawing/2014/main" id="{4BDFEEB7-3D52-48A0-B470-EE8FB6CEBAD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67C9A3D2-9C79-4B35-A50C-B636D89832A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Success is a useful diagnosis and a predictable denial</a:t>
            </a:r>
          </a:p>
        </p:txBody>
      </p:sp>
      <p:sp>
        <p:nvSpPr>
          <p:cNvPr id="3" name="Google-Shape-534-p58-4">
            <a:extLst xmlns:a="http://schemas.openxmlformats.org/drawingml/2006/main">
              <a:ext uri="{FF2B5EF4-FFF2-40B4-BE49-F238E27FC236}">
                <a16:creationId xmlns:a16="http://schemas.microsoft.com/office/drawing/2014/main" id="{893F23C0-A33B-4511-B30E-3FC9CCECAB01}"/>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The POC must explain</a:t>
            </a:r>
          </a:p>
          <a:p xmlns:a="http://schemas.openxmlformats.org/drawingml/2006/main">
            <a:pPr algn="l">
              <a:buNone/>
              <a:defRPr sz="2400">
                <a:solidFill>
                  <a:srgbClr val="000000"/>
                </a:solidFill>
                <a:latin typeface="Helvetica Neue"/>
                <a:ea typeface="Helvetica Neue"/>
                <a:cs typeface="Helvetica Neue"/>
              </a:defRPr>
            </a:pPr>
            <a:r>
              <a:t>the issue—and prove</a:t>
            </a:r>
          </a:p>
          <a:p xmlns:a="http://schemas.openxmlformats.org/drawingml/2006/main">
            <a:pPr algn="l">
              <a:buNone/>
              <a:defRPr sz="2400">
                <a:solidFill>
                  <a:srgbClr val="000000"/>
                </a:solidFill>
                <a:latin typeface="Helvetica Neue"/>
                <a:ea typeface="Helvetica Neue"/>
                <a:cs typeface="Helvetica Neue"/>
              </a:defRPr>
            </a:pPr>
            <a:r>
              <a:t>what it refused.</a:t>
            </a:r>
          </a:p>
        </p:txBody>
      </p:sp>
      <p:sp>
        <p:nvSpPr>
          <p:cNvPr id="4" name="Content-Placeholder-10-5">
            <a:extLst xmlns:a="http://schemas.openxmlformats.org/drawingml/2006/main">
              <a:ext uri="{FF2B5EF4-FFF2-40B4-BE49-F238E27FC236}">
                <a16:creationId xmlns:a16="http://schemas.microsoft.com/office/drawing/2014/main" id="{20633BD9-9F4E-4B9D-85E6-DF3C61B82F05}"/>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95748"/>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Approved API tools are visible</a:t>
            </a:r>
          </a:p>
        </p:txBody>
      </p:sp>
      <p:sp>
        <p:nvSpPr>
          <p:cNvPr id="5" name="Google-Shape-340-p61-6">
            <a:extLst xmlns:a="http://schemas.openxmlformats.org/drawingml/2006/main">
              <a:ext uri="{FF2B5EF4-FFF2-40B4-BE49-F238E27FC236}">
                <a16:creationId xmlns:a16="http://schemas.microsoft.com/office/drawing/2014/main" id="{F1758E3A-C752-4810-8A9B-5604DAE5D00C}"/>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79A96B"/>
          </a:solidFill>
          <a:ln xmlns:a="http://schemas.openxmlformats.org/drawingml/2006/main" w="9525">
            <a:solidFill>
              <a:srgbClr val="79A96B"/>
            </a:solidFill>
            <a:prstDash val="solid"/>
          </a:ln>
        </p:spPr>
      </p:sp>
      <p:sp>
        <p:nvSpPr>
          <p:cNvPr id="6" name="TextBox-11-7">
            <a:extLst xmlns:a="http://schemas.openxmlformats.org/drawingml/2006/main">
              <a:ext uri="{FF2B5EF4-FFF2-40B4-BE49-F238E27FC236}">
                <a16:creationId xmlns:a16="http://schemas.microsoft.com/office/drawing/2014/main" id="{B4AF1117-063C-43EE-A993-0206CD077BAE}"/>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buNone/>
              <a:defRPr sz="1800">
                <a:solidFill>
                  <a:srgbClr val="000000"/>
                </a:solidFill>
                <a:latin typeface="Helvetica Neue"/>
                <a:ea typeface="Helvetica Neue"/>
                <a:cs typeface="Helvetica Neue"/>
              </a:defRPr>
            </a:pPr>
            <a:r>
              <a:t>An approved user asks why WI-DEMO-001 has no enrollment. The IDE gathers participant and life-event evidence through API tools. Missing data triggers an authorized Config Check call. The final explanation and every denial share one trace ID.</a:t>
            </a:r>
          </a:p>
        </p:txBody>
      </p:sp>
      <p:sp>
        <p:nvSpPr>
          <p:cNvPr id="7" name="Content-Placeholder-10-8">
            <a:extLst xmlns:a="http://schemas.openxmlformats.org/drawingml/2006/main">
              <a:ext uri="{FF2B5EF4-FFF2-40B4-BE49-F238E27FC236}">
                <a16:creationId xmlns:a16="http://schemas.microsoft.com/office/drawing/2014/main" id="{751F931F-9A8E-4D42-933C-9FB763C66F45}"/>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9323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Work-item diagnosis succeeds</a:t>
            </a:r>
          </a:p>
        </p:txBody>
      </p:sp>
      <p:sp>
        <p:nvSpPr>
          <p:cNvPr id="8" name="Google-Shape-340-p61-9">
            <a:extLst xmlns:a="http://schemas.openxmlformats.org/drawingml/2006/main">
              <a:ext uri="{FF2B5EF4-FFF2-40B4-BE49-F238E27FC236}">
                <a16:creationId xmlns:a16="http://schemas.microsoft.com/office/drawing/2014/main" id="{671AE806-F26E-412E-9E2A-0167C4A56893}"/>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79A96B"/>
          </a:solidFill>
          <a:ln xmlns:a="http://schemas.openxmlformats.org/drawingml/2006/main" w="9525">
            <a:solidFill>
              <a:srgbClr val="79A96B"/>
            </a:solidFill>
            <a:prstDash val="solid"/>
          </a:ln>
        </p:spPr>
      </p:sp>
      <p:sp>
        <p:nvSpPr>
          <p:cNvPr id="9" name="Content-Placeholder-10-10">
            <a:extLst xmlns:a="http://schemas.openxmlformats.org/drawingml/2006/main">
              <a:ext uri="{FF2B5EF4-FFF2-40B4-BE49-F238E27FC236}">
                <a16:creationId xmlns:a16="http://schemas.microsoft.com/office/drawing/2014/main" id="{089F148E-5887-49DE-90E5-E34A935EB756}"/>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Config gap is identified</a:t>
            </a:r>
          </a:p>
        </p:txBody>
      </p:sp>
      <p:sp>
        <p:nvSpPr>
          <p:cNvPr id="10" name="Google-Shape-340-p61-11">
            <a:extLst xmlns:a="http://schemas.openxmlformats.org/drawingml/2006/main">
              <a:ext uri="{FF2B5EF4-FFF2-40B4-BE49-F238E27FC236}">
                <a16:creationId xmlns:a16="http://schemas.microsoft.com/office/drawing/2014/main" id="{FC089F29-09F8-48D8-8231-5FA2B89607C8}"/>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F28B82"/>
          </a:solidFill>
          <a:ln xmlns:a="http://schemas.openxmlformats.org/drawingml/2006/main" w="9525">
            <a:solidFill>
              <a:srgbClr val="F28B82"/>
            </a:solidFill>
            <a:prstDash val="solid"/>
          </a:ln>
        </p:spPr>
      </p:sp>
      <p:sp>
        <p:nvSpPr>
          <p:cNvPr id="11" name="Content-Placeholder-10-12">
            <a:extLst xmlns:a="http://schemas.openxmlformats.org/drawingml/2006/main">
              <a:ext uri="{FF2B5EF4-FFF2-40B4-BE49-F238E27FC236}">
                <a16:creationId xmlns:a16="http://schemas.microsoft.com/office/drawing/2014/main" id="{488D373C-3873-4773-83E4-0C9DCA65B082}"/>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Unknown tool is denied</a:t>
            </a:r>
          </a:p>
        </p:txBody>
      </p:sp>
      <p:sp>
        <p:nvSpPr>
          <p:cNvPr id="12" name="Google-Shape-340-p61-13">
            <a:extLst xmlns:a="http://schemas.openxmlformats.org/drawingml/2006/main">
              <a:ext uri="{FF2B5EF4-FFF2-40B4-BE49-F238E27FC236}">
                <a16:creationId xmlns:a16="http://schemas.microsoft.com/office/drawing/2014/main" id="{7B9F1B6A-537F-4F8A-A43A-1D1CC50FB9D0}"/>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F28B82"/>
          </a:solidFill>
          <a:ln xmlns:a="http://schemas.openxmlformats.org/drawingml/2006/main" w="9525">
            <a:solidFill>
              <a:srgbClr val="F28B82"/>
            </a:solidFill>
            <a:prstDash val="solid"/>
          </a:ln>
        </p:spPr>
      </p:sp>
      <p:sp>
        <p:nvSpPr>
          <p:cNvPr id="13" name="Content-Placeholder-10-14">
            <a:extLst xmlns:a="http://schemas.openxmlformats.org/drawingml/2006/main">
              <a:ext uri="{FF2B5EF4-FFF2-40B4-BE49-F238E27FC236}">
                <a16:creationId xmlns:a16="http://schemas.microsoft.com/office/drawing/2014/main" id="{130A03ED-82DC-4EF4-8939-5BB0C0BDF36A}"/>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87642"/>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Direct server / DB access denied</a:t>
            </a:r>
          </a:p>
        </p:txBody>
      </p:sp>
      <p:sp>
        <p:nvSpPr>
          <p:cNvPr id="14" name="Google-Shape-340-p61-15">
            <a:extLst xmlns:a="http://schemas.openxmlformats.org/drawingml/2006/main">
              <a:ext uri="{FF2B5EF4-FFF2-40B4-BE49-F238E27FC236}">
                <a16:creationId xmlns:a16="http://schemas.microsoft.com/office/drawing/2014/main" id="{EB7B4D74-DD05-45BF-99F0-8E3C1B3A297A}"/>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9C83E8"/>
          </a:solidFill>
          <a:ln xmlns:a="http://schemas.openxmlformats.org/drawingml/2006/main" w="9525">
            <a:solidFill>
              <a:srgbClr val="9C83E8"/>
            </a:solidFill>
            <a:prstDash val="solid"/>
          </a:ln>
        </p:spPr>
      </p:sp>
    </p:spTree>
    <p:extLst>
      <p:ext uri="{BB962C8B-B14F-4D97-AF65-F5344CB8AC3E}">
        <p14:creationId xmlns:p14="http://schemas.microsoft.com/office/powerpoint/2010/main" val="98765912"/>
      </p:ext>
    </p:extLst>
  </p:cSld>
</p:sld>
</file>

<file path=ppt/slides/slide8.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773E9885-AE7A-4E69-B9A3-1188760DD55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8</a:t>
            </a:r>
          </a:p>
        </p:txBody>
      </p:sp>
      <p:sp>
        <p:nvSpPr>
          <p:cNvPr id="2" name="Title-10-3">
            <a:extLst xmlns:a="http://schemas.openxmlformats.org/drawingml/2006/main">
              <a:ext uri="{FF2B5EF4-FFF2-40B4-BE49-F238E27FC236}">
                <a16:creationId xmlns:a16="http://schemas.microsoft.com/office/drawing/2014/main" id="{DD4089FF-23A9-4D03-8440-8F24A876E02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Everything stays inside the approved enterprise boundary</a:t>
            </a:r>
          </a:p>
        </p:txBody>
      </p:sp>
      <p:cxnSp>
        <p:nvCxnSpPr>
          <p:cNvPr id="66"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19050">
            <a:solidFill>
              <a:srgbClr val="AEB9B4"/>
            </a:solidFill>
            <a:prstDash val="solid"/>
          </a:ln>
        </p:spPr>
      </p:cxnSp>
      <p:sp>
        <p:nvSpPr>
          <p:cNvPr id="4" name="Google-Shape-2260-p159-5">
            <a:extLst xmlns:a="http://schemas.openxmlformats.org/drawingml/2006/main">
              <a:ext uri="{FF2B5EF4-FFF2-40B4-BE49-F238E27FC236}">
                <a16:creationId xmlns:a16="http://schemas.microsoft.com/office/drawing/2014/main" id="{D607DE44-BB05-4C7F-9EF2-E4854F8E6ADA}"/>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79A96B"/>
          </a:solidFill>
          <a:ln xmlns:a="http://schemas.openxmlformats.org/drawingml/2006/main" w="9525">
            <a:solidFill>
              <a:srgbClr val="79A96B"/>
            </a:solidFill>
            <a:prstDash val="solid"/>
          </a:ln>
        </p:spPr>
      </p:sp>
      <p:sp>
        <p:nvSpPr>
          <p:cNvPr id="5" name="Google-Shape-2261-p159-6">
            <a:extLst xmlns:a="http://schemas.openxmlformats.org/drawingml/2006/main">
              <a:ext uri="{FF2B5EF4-FFF2-40B4-BE49-F238E27FC236}">
                <a16:creationId xmlns:a16="http://schemas.microsoft.com/office/drawing/2014/main" id="{33763F2C-447B-4AAA-BADB-84E29BCED3F2}"/>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7AA6F8"/>
          </a:solidFill>
          <a:ln xmlns:a="http://schemas.openxmlformats.org/drawingml/2006/main" w="9525">
            <a:solidFill>
              <a:srgbClr val="7AA6F8"/>
            </a:solidFill>
            <a:prstDash val="solid"/>
          </a:ln>
        </p:spPr>
      </p:sp>
      <p:sp>
        <p:nvSpPr>
          <p:cNvPr id="6" name="Google-Shape-2262-p159-7">
            <a:extLst xmlns:a="http://schemas.openxmlformats.org/drawingml/2006/main">
              <a:ext uri="{FF2B5EF4-FFF2-40B4-BE49-F238E27FC236}">
                <a16:creationId xmlns:a16="http://schemas.microsoft.com/office/drawing/2014/main" id="{AB6C4B21-0740-4845-95B0-55C51FF06AB1}"/>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9C83E8"/>
          </a:solidFill>
          <a:ln xmlns:a="http://schemas.openxmlformats.org/drawingml/2006/main" w="9525">
            <a:solidFill>
              <a:srgbClr val="9C83E8"/>
            </a:solidFill>
            <a:prstDash val="solid"/>
          </a:ln>
        </p:spPr>
      </p:sp>
      <p:sp>
        <p:nvSpPr>
          <p:cNvPr id="7" name="Rounded-Rectangle-19-8">
            <a:extLst xmlns:a="http://schemas.openxmlformats.org/drawingml/2006/main">
              <a:ext uri="{FF2B5EF4-FFF2-40B4-BE49-F238E27FC236}">
                <a16:creationId xmlns:a16="http://schemas.microsoft.com/office/drawing/2014/main" id="{51A0C20B-9CFF-4770-AF24-D7D13EF16F61}"/>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DDEFD7"/>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Content-Placeholder-8-9">
            <a:extLst xmlns:a="http://schemas.openxmlformats.org/drawingml/2006/main">
              <a:ext uri="{FF2B5EF4-FFF2-40B4-BE49-F238E27FC236}">
                <a16:creationId xmlns:a16="http://schemas.microsoft.com/office/drawing/2014/main" id="{378368F1-1124-446A-9FF8-19C589EEC176}"/>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1 · INTERNAL CLIENT</a:t>
            </a:r>
          </a:p>
          <a:p xmlns:a="http://schemas.openxmlformats.org/drawingml/2006/main">
            <a:pPr algn="l">
              <a:buNone/>
              <a:defRPr sz="1600">
                <a:solidFill>
                  <a:srgbClr val="000000"/>
                </a:solidFill>
                <a:latin typeface="Helvetica Neue"/>
                <a:ea typeface="Helvetica Neue"/>
                <a:cs typeface="Helvetica Neue"/>
              </a:defRPr>
            </a:pPr>
            <a:r>
              <a:t>Approved VS Code</a:t>
            </a:r>
          </a:p>
          <a:p xmlns:a="http://schemas.openxmlformats.org/drawingml/2006/main">
            <a:pPr algn="l">
              <a:buNone/>
              <a:defRPr sz="1600">
                <a:solidFill>
                  <a:srgbClr val="000000"/>
                </a:solidFill>
                <a:latin typeface="Helvetica Neue"/>
                <a:ea typeface="Helvetica Neue"/>
                <a:cs typeface="Helvetica Neue"/>
              </a:defRPr>
            </a:pPr>
            <a:r>
              <a:t>Enterprise workforce SSO</a:t>
            </a:r>
          </a:p>
          <a:p xmlns:a="http://schemas.openxmlformats.org/drawingml/2006/main">
            <a:pPr algn="l">
              <a:buNone/>
              <a:defRPr sz="1600">
                <a:solidFill>
                  <a:srgbClr val="000000"/>
                </a:solidFill>
                <a:latin typeface="Helvetica Neue"/>
                <a:ea typeface="Helvetica Neue"/>
                <a:cs typeface="Helvetica Neue"/>
              </a:defRPr>
            </a:pPr>
            <a:r>
              <a:t>Private enterprise access</a:t>
            </a:r>
          </a:p>
        </p:txBody>
      </p:sp>
      <p:sp>
        <p:nvSpPr>
          <p:cNvPr id="9" name="Rounded-Rectangle-21-10">
            <a:extLst xmlns:a="http://schemas.openxmlformats.org/drawingml/2006/main">
              <a:ext uri="{FF2B5EF4-FFF2-40B4-BE49-F238E27FC236}">
                <a16:creationId xmlns:a16="http://schemas.microsoft.com/office/drawing/2014/main" id="{960B71E2-D960-43F2-B224-DEE7F283E44E}"/>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DCE8FF"/>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Content-Placeholder-8-11">
            <a:extLst xmlns:a="http://schemas.openxmlformats.org/drawingml/2006/main">
              <a:ext uri="{FF2B5EF4-FFF2-40B4-BE49-F238E27FC236}">
                <a16:creationId xmlns:a16="http://schemas.microsoft.com/office/drawing/2014/main" id="{D0231138-E240-4A50-A2FB-1E115E5F410D}"/>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2 · INTERNAL MCP RUNTIME</a:t>
            </a:r>
          </a:p>
          <a:p xmlns:a="http://schemas.openxmlformats.org/drawingml/2006/main">
            <a:pPr algn="l">
              <a:buNone/>
              <a:defRPr sz="1600">
                <a:solidFill>
                  <a:srgbClr val="000000"/>
                </a:solidFill>
                <a:latin typeface="Helvetica Neue"/>
                <a:ea typeface="Helvetica Neue"/>
                <a:cs typeface="Helvetica Neue"/>
              </a:defRPr>
            </a:pPr>
            <a:r>
              <a:t>Gateway + registry snapshot</a:t>
            </a:r>
          </a:p>
          <a:p xmlns:a="http://schemas.openxmlformats.org/drawingml/2006/main">
            <a:pPr algn="l">
              <a:buNone/>
              <a:defRPr sz="1600">
                <a:solidFill>
                  <a:srgbClr val="000000"/>
                </a:solidFill>
                <a:latin typeface="Helvetica Neue"/>
                <a:ea typeface="Helvetica Neue"/>
                <a:cs typeface="Helvetica Neue"/>
              </a:defRPr>
            </a:pPr>
            <a:r>
              <a:t>Two internal MCP servers</a:t>
            </a:r>
          </a:p>
          <a:p xmlns:a="http://schemas.openxmlformats.org/drawingml/2006/main">
            <a:pPr algn="l">
              <a:buNone/>
              <a:defRPr sz="1600">
                <a:solidFill>
                  <a:srgbClr val="000000"/>
                </a:solidFill>
                <a:latin typeface="Helvetica Neue"/>
                <a:ea typeface="Helvetica Neue"/>
                <a:cs typeface="Helvetica Neue"/>
              </a:defRPr>
            </a:pPr>
            <a:r>
              <a:t>Workload identities</a:t>
            </a:r>
          </a:p>
        </p:txBody>
      </p:sp>
      <p:sp>
        <p:nvSpPr>
          <p:cNvPr id="11" name="Rounded-Rectangle-23-12">
            <a:extLst xmlns:a="http://schemas.openxmlformats.org/drawingml/2006/main">
              <a:ext uri="{FF2B5EF4-FFF2-40B4-BE49-F238E27FC236}">
                <a16:creationId xmlns:a16="http://schemas.microsoft.com/office/drawing/2014/main" id="{2A5E47E6-5455-495B-91C0-DD47A3E6342E}"/>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E7DEFF"/>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Content-Placeholder-8-13">
            <a:extLst xmlns:a="http://schemas.openxmlformats.org/drawingml/2006/main">
              <a:ext uri="{FF2B5EF4-FFF2-40B4-BE49-F238E27FC236}">
                <a16:creationId xmlns:a16="http://schemas.microsoft.com/office/drawing/2014/main" id="{C46EC608-9555-49E9-8036-79728082ED4F}"/>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3 · INTERNAL API PATH</a:t>
            </a:r>
          </a:p>
          <a:p xmlns:a="http://schemas.openxmlformats.org/drawingml/2006/main">
            <a:pPr algn="l">
              <a:buNone/>
              <a:defRPr sz="1600">
                <a:solidFill>
                  <a:srgbClr val="000000"/>
                </a:solidFill>
                <a:latin typeface="Helvetica Neue"/>
                <a:ea typeface="Helvetica Neue"/>
                <a:cs typeface="Helvetica Neue"/>
              </a:defRPr>
            </a:pPr>
            <a:r>
              <a:t>API tool → internal API Gateway</a:t>
            </a:r>
          </a:p>
          <a:p xmlns:a="http://schemas.openxmlformats.org/drawingml/2006/main">
            <a:pPr algn="l">
              <a:buNone/>
              <a:defRPr sz="1600">
                <a:solidFill>
                  <a:srgbClr val="000000"/>
                </a:solidFill>
                <a:latin typeface="Helvetica Neue"/>
                <a:ea typeface="Helvetica Neue"/>
                <a:cs typeface="Helvetica Neue"/>
              </a:defRPr>
            </a:pPr>
            <a:r>
              <a:t>Read-only internal APIs</a:t>
            </a:r>
          </a:p>
          <a:p xmlns:a="http://schemas.openxmlformats.org/drawingml/2006/main">
            <a:pPr algn="l">
              <a:buNone/>
              <a:defRPr sz="1600">
                <a:solidFill>
                  <a:srgbClr val="000000"/>
                </a:solidFill>
                <a:latin typeface="Helvetica Neue"/>
                <a:ea typeface="Helvetica Neue"/>
                <a:cs typeface="Helvetica Neue"/>
              </a:defRPr>
            </a:pPr>
            <a:r>
              <a:t>Trace + audit stay internal</a:t>
            </a:r>
          </a:p>
        </p:txBody>
      </p:sp>
      <p:sp>
        <p:nvSpPr>
          <p:cNvPr id="13" name="Text-Placeholder-16-14">
            <a:extLst xmlns:a="http://schemas.openxmlformats.org/drawingml/2006/main">
              <a:ext uri="{FF2B5EF4-FFF2-40B4-BE49-F238E27FC236}">
                <a16:creationId xmlns:a16="http://schemas.microsoft.com/office/drawing/2014/main" id="{F155ED51-4B0D-4AA7-B30A-1E7CC0DD4816}"/>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RUNTIME</a:t>
            </a:r>
          </a:p>
        </p:txBody>
      </p:sp>
      <p:sp>
        <p:nvSpPr>
          <p:cNvPr id="14" name="Text-Placeholder-16-15">
            <a:extLst xmlns:a="http://schemas.openxmlformats.org/drawingml/2006/main">
              <a:ext uri="{FF2B5EF4-FFF2-40B4-BE49-F238E27FC236}">
                <a16:creationId xmlns:a16="http://schemas.microsoft.com/office/drawing/2014/main" id="{FA800B9B-51AF-4B92-BC09-F0394D91BA7F}"/>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CLIENT</a:t>
            </a:r>
          </a:p>
        </p:txBody>
      </p:sp>
      <p:sp>
        <p:nvSpPr>
          <p:cNvPr id="15" name="Text-Placeholder-16-16">
            <a:extLst xmlns:a="http://schemas.openxmlformats.org/drawingml/2006/main">
              <a:ext uri="{FF2B5EF4-FFF2-40B4-BE49-F238E27FC236}">
                <a16:creationId xmlns:a16="http://schemas.microsoft.com/office/drawing/2014/main" id="{61E8079B-0EF8-44F3-B6B3-3A52489610A5}"/>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APIs</a:t>
            </a:r>
          </a:p>
        </p:txBody>
      </p:sp>
    </p:spTree>
    <p:extLst>
      <p:ext uri="{BB962C8B-B14F-4D97-AF65-F5344CB8AC3E}">
        <p14:creationId xmlns:p14="http://schemas.microsoft.com/office/powerpoint/2010/main" val="74169977"/>
      </p:ext>
    </p:extLst>
  </p:cSld>
</p:sld>
</file>

<file path=ppt/slides/slide9.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A3DAEB88-3F50-4DC6-8C5F-816798438B8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2" name="Google-Shape-533-p58-3">
            <a:extLst xmlns:a="http://schemas.openxmlformats.org/drawingml/2006/main">
              <a:ext uri="{FF2B5EF4-FFF2-40B4-BE49-F238E27FC236}">
                <a16:creationId xmlns:a16="http://schemas.microsoft.com/office/drawing/2014/main" id="{41307535-7EFB-4D3C-95D8-B2B5F27974E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Azure hosts the MCP runtime; internal systems stay private</a:t>
            </a:r>
          </a:p>
        </p:txBody>
      </p:sp>
      <p:sp>
        <p:nvSpPr>
          <p:cNvPr id="3" name="Picture-3-4-backing">
            <a:extLst xmlns:a="http://schemas.openxmlformats.org/drawingml/2006/main">
              <a:ext uri="{FF2B5EF4-FFF2-40B4-BE49-F238E27FC236}">
                <a16:creationId xmlns:a16="http://schemas.microsoft.com/office/drawing/2014/main" id="{330EC1DC-A6AF-4766-AC10-FFA52D365E7C}"/>
              </a:ext>
            </a:extLst>
          </p:cNvPr>
          <p:cNvSpPr>
            <a:spLocks xmlns:a="http://schemas.openxmlformats.org/drawingml/2006/main" noGrp="1"/>
          </p:cNvSpPr>
          <p:nvPr/>
        </p:nvSpPr>
        <p:spPr>
          <a:xfrm xmlns:a="http://schemas.openxmlformats.org/drawingml/2006/main">
            <a:off x="393668" y="1571625"/>
            <a:ext cx="10934700" cy="4810125"/>
          </a:xfrm>
          <a:prstGeom xmlns:a="http://schemas.openxmlformats.org/drawingml/2006/main" prst="roundRect">
            <a:avLst>
              <a:gd name="adj" fmla="val 1376"/>
            </a:avLst>
          </a:prstGeom>
          <a:noFill xmlns:a="http://schemas.openxmlformats.org/drawingml/2006/main"/>
          <a:ln xmlns:a="http://schemas.openxmlformats.org/drawingml/2006/main" w="14288">
            <a:solidFill>
              <a:srgbClr val="DDE7E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Google-Shape-534-p58-5">
            <a:extLst xmlns:a="http://schemas.openxmlformats.org/drawingml/2006/main">
              <a:ext uri="{FF2B5EF4-FFF2-40B4-BE49-F238E27FC236}">
                <a16:creationId xmlns:a16="http://schemas.microsoft.com/office/drawing/2014/main" id="{209DDD79-2E97-4E6E-AD30-923BAF4B7A21}"/>
              </a:ext>
            </a:extLst>
          </p:cNvPr>
          <p:cNvSpPr>
            <a:spLocks xmlns:a="http://schemas.openxmlformats.org/drawingml/2006/main" noGrp="1"/>
          </p:cNvSpPr>
          <p:nvPr/>
        </p:nvSpPr>
        <p:spPr>
          <a:xfrm xmlns:a="http://schemas.openxmlformats.org/drawingml/2006/main">
            <a:off x="393668" y="1000125"/>
            <a:ext cx="11404568"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Copilot calls one governed endpoint. Registry, credentials, and traces remain separate controls.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81202443bd24c97"/>
          <a:stretch xmlns:a="http://schemas.openxmlformats.org/drawingml/2006/main"/>
        </p:blipFill>
        <p:spPr>
          <a:xfrm xmlns:a="http://schemas.openxmlformats.org/drawingml/2006/main">
            <a:off x="1143000" y="1763809"/>
            <a:ext cx="9467850" cy="4435283"/>
          </a:xfrm>
          <a:prstGeom xmlns:a="http://schemas.openxmlformats.org/drawingml/2006/main" prst="rect">
            <a:avLst/>
          </a:prstGeom>
        </p:spPr>
      </p:pic>
    </p:spTree>
    <p:extLst>
      <p:ext uri="{BB962C8B-B14F-4D97-AF65-F5344CB8AC3E}">
        <p14:creationId xmlns:p14="http://schemas.microsoft.com/office/powerpoint/2010/main" val="1352646561"/>
      </p:ext>
    </p:extLst>
  </p:cSld>
</p:sld>
</file>

<file path=ppt/slides/slide10.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BCD3B8F3-88A2-4018-96D8-66787E47D8E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2" name="Title-10-3">
            <a:extLst xmlns:a="http://schemas.openxmlformats.org/drawingml/2006/main">
              <a:ext uri="{FF2B5EF4-FFF2-40B4-BE49-F238E27FC236}">
                <a16:creationId xmlns:a16="http://schemas.microsoft.com/office/drawing/2014/main" id="{CF13307C-3233-423D-AB77-CBFCB675C49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user token stops at the gateway</a:t>
            </a:r>
          </a:p>
        </p:txBody>
      </p:sp>
      <p:cxnSp>
        <p:nvCxnSpPr>
          <p:cNvPr id="63"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19050">
            <a:solidFill>
              <a:srgbClr val="AEB9B4"/>
            </a:solidFill>
            <a:prstDash val="solid"/>
          </a:ln>
        </p:spPr>
      </p:cxnSp>
      <p:sp>
        <p:nvSpPr>
          <p:cNvPr id="4" name="Google-Shape-2260-p159-5">
            <a:extLst xmlns:a="http://schemas.openxmlformats.org/drawingml/2006/main">
              <a:ext uri="{FF2B5EF4-FFF2-40B4-BE49-F238E27FC236}">
                <a16:creationId xmlns:a16="http://schemas.microsoft.com/office/drawing/2014/main" id="{5195D905-F100-4162-8E1A-99A987C865C8}"/>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79A96B"/>
          </a:solidFill>
          <a:ln xmlns:a="http://schemas.openxmlformats.org/drawingml/2006/main" w="9525">
            <a:solidFill>
              <a:srgbClr val="79A96B"/>
            </a:solidFill>
            <a:prstDash val="solid"/>
          </a:ln>
        </p:spPr>
      </p:sp>
      <p:sp>
        <p:nvSpPr>
          <p:cNvPr id="5" name="Google-Shape-2261-p159-6">
            <a:extLst xmlns:a="http://schemas.openxmlformats.org/drawingml/2006/main">
              <a:ext uri="{FF2B5EF4-FFF2-40B4-BE49-F238E27FC236}">
                <a16:creationId xmlns:a16="http://schemas.microsoft.com/office/drawing/2014/main" id="{E1756207-42CD-4B14-9F9D-240C833F2792}"/>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7AA6F8"/>
          </a:solidFill>
          <a:ln xmlns:a="http://schemas.openxmlformats.org/drawingml/2006/main" w="9525">
            <a:solidFill>
              <a:srgbClr val="7AA6F8"/>
            </a:solidFill>
            <a:prstDash val="solid"/>
          </a:ln>
        </p:spPr>
      </p:sp>
      <p:sp>
        <p:nvSpPr>
          <p:cNvPr id="6" name="Google-Shape-2262-p159-7">
            <a:extLst xmlns:a="http://schemas.openxmlformats.org/drawingml/2006/main">
              <a:ext uri="{FF2B5EF4-FFF2-40B4-BE49-F238E27FC236}">
                <a16:creationId xmlns:a16="http://schemas.microsoft.com/office/drawing/2014/main" id="{AFAFCBF5-5B63-4D09-8978-817821FEBEC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F28B82"/>
          </a:solidFill>
          <a:ln xmlns:a="http://schemas.openxmlformats.org/drawingml/2006/main" w="9525">
            <a:solidFill>
              <a:srgbClr val="F28B82"/>
            </a:solidFill>
            <a:prstDash val="solid"/>
          </a:ln>
        </p:spPr>
      </p:sp>
      <p:sp>
        <p:nvSpPr>
          <p:cNvPr id="7" name="Content-Placeholder-15-8">
            <a:extLst xmlns:a="http://schemas.openxmlformats.org/drawingml/2006/main">
              <a:ext uri="{FF2B5EF4-FFF2-40B4-BE49-F238E27FC236}">
                <a16:creationId xmlns:a16="http://schemas.microsoft.com/office/drawing/2014/main" id="{B351054A-6569-4F18-B619-18441BB6C3DD}"/>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AUTHENTICATE</a:t>
            </a:r>
          </a:p>
        </p:txBody>
      </p:sp>
      <p:sp>
        <p:nvSpPr>
          <p:cNvPr id="8" name="Content-Placeholder-15-9">
            <a:extLst xmlns:a="http://schemas.openxmlformats.org/drawingml/2006/main">
              <a:ext uri="{FF2B5EF4-FFF2-40B4-BE49-F238E27FC236}">
                <a16:creationId xmlns:a16="http://schemas.microsoft.com/office/drawing/2014/main" id="{2A7EE0D5-790E-4022-87D4-1B404D8C2A61}"/>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AUTHORIZE</a:t>
            </a:r>
          </a:p>
        </p:txBody>
      </p:sp>
      <p:sp>
        <p:nvSpPr>
          <p:cNvPr id="9" name="Content-Placeholder-15-10">
            <a:extLst xmlns:a="http://schemas.openxmlformats.org/drawingml/2006/main">
              <a:ext uri="{FF2B5EF4-FFF2-40B4-BE49-F238E27FC236}">
                <a16:creationId xmlns:a16="http://schemas.microsoft.com/office/drawing/2014/main" id="{353E150B-4765-4840-AAE4-83F5A6E14781}"/>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EXECUTE + TRACE</a:t>
            </a:r>
          </a:p>
        </p:txBody>
      </p:sp>
      <p:sp>
        <p:nvSpPr>
          <p:cNvPr id="10" name="Text-Placeholder-16-11">
            <a:extLst xmlns:a="http://schemas.openxmlformats.org/drawingml/2006/main">
              <a:ext uri="{FF2B5EF4-FFF2-40B4-BE49-F238E27FC236}">
                <a16:creationId xmlns:a16="http://schemas.microsoft.com/office/drawing/2014/main" id="{AB92F137-5C86-4B42-990A-5362F85B0971}"/>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Gateway → policy → one-call grant</a:t>
            </a:r>
          </a:p>
          <a:p xmlns:a="http://schemas.openxmlformats.org/drawingml/2006/main">
            <a:pPr algn="l">
              <a:buNone/>
              <a:defRPr sz="2400">
                <a:solidFill>
                  <a:srgbClr val="000000"/>
                </a:solidFill>
                <a:latin typeface="Helvetica Neue"/>
                <a:ea typeface="Helvetica Neue"/>
                <a:cs typeface="Helvetica Neue"/>
              </a:defRPr>
            </a:pPr>
            <a:r>
              <a:t>Bind actor, API tool, invocation_id, jti, and expiry.</a:t>
            </a:r>
          </a:p>
        </p:txBody>
      </p:sp>
      <p:sp>
        <p:nvSpPr>
          <p:cNvPr id="11" name="Text-Placeholder-16-12">
            <a:extLst xmlns:a="http://schemas.openxmlformats.org/drawingml/2006/main">
              <a:ext uri="{FF2B5EF4-FFF2-40B4-BE49-F238E27FC236}">
                <a16:creationId xmlns:a16="http://schemas.microsoft.com/office/drawing/2014/main" id="{D5318A2E-22B1-4F83-BA05-021084440112}"/>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VS Code → Enterprise SSO → MCP Gateway</a:t>
            </a:r>
          </a:p>
          <a:p xmlns:a="http://schemas.openxmlformats.org/drawingml/2006/main">
            <a:pPr algn="l">
              <a:buNone/>
              <a:defRPr sz="2400">
                <a:solidFill>
                  <a:srgbClr val="000000"/>
                </a:solidFill>
                <a:latin typeface="Helvetica Neue"/>
                <a:ea typeface="Helvetica Neue"/>
                <a:cs typeface="Helvetica Neue"/>
              </a:defRPr>
            </a:pPr>
            <a:r>
              <a:t>Workforce token is audience-bound to the gateway.</a:t>
            </a:r>
          </a:p>
        </p:txBody>
      </p:sp>
      <p:sp>
        <p:nvSpPr>
          <p:cNvPr id="12" name="Text-Placeholder-16-13">
            <a:extLst xmlns:a="http://schemas.openxmlformats.org/drawingml/2006/main">
              <a:ext uri="{FF2B5EF4-FFF2-40B4-BE49-F238E27FC236}">
                <a16:creationId xmlns:a16="http://schemas.microsoft.com/office/drawing/2014/main" id="{45D5A72D-E109-4D75-A171-FBACC141E2DF}"/>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MCP Server → API Gateway</a:t>
            </a:r>
          </a:p>
          <a:p xmlns:a="http://schemas.openxmlformats.org/drawingml/2006/main">
            <a:pPr algn="l">
              <a:buNone/>
              <a:defRPr sz="2400">
                <a:solidFill>
                  <a:srgbClr val="000000"/>
                </a:solidFill>
                <a:latin typeface="Helvetica Neue"/>
                <a:ea typeface="Helvetica Neue"/>
                <a:cs typeface="Helvetica Neue"/>
              </a:defRPr>
            </a:pPr>
            <a:r>
              <a:t>Workload identity only. No user token or delegation. Trace + audit separately.</a:t>
            </a:r>
          </a:p>
        </p:txBody>
      </p:sp>
    </p:spTree>
    <p:extLst>
      <p:ext uri="{BB962C8B-B14F-4D97-AF65-F5344CB8AC3E}">
        <p14:creationId xmlns:p14="http://schemas.microsoft.com/office/powerpoint/2010/main" val="1932543646"/>
      </p:ext>
    </p:extLst>
  </p:cSld>
</p:sld>
</file>

<file path=ppt/slides/slide11.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773E9885-AE7A-4E69-B9A3-1188760DD55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2" name="Title-10-3">
            <a:extLst xmlns:a="http://schemas.openxmlformats.org/drawingml/2006/main">
              <a:ext uri="{FF2B5EF4-FFF2-40B4-BE49-F238E27FC236}">
                <a16:creationId xmlns:a16="http://schemas.microsoft.com/office/drawing/2014/main" id="{DD4089FF-23A9-4D03-8440-8F24A876E02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Scale only inside the guardrails</a:t>
            </a:r>
          </a:p>
        </p:txBody>
      </p:sp>
      <p:cxnSp>
        <p:nvCxnSpPr>
          <p:cNvPr id="66"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19050">
            <a:solidFill>
              <a:srgbClr val="AEB9B4"/>
            </a:solidFill>
            <a:prstDash val="solid"/>
          </a:ln>
        </p:spPr>
      </p:cxnSp>
      <p:sp>
        <p:nvSpPr>
          <p:cNvPr id="4" name="Google-Shape-2260-p159-5">
            <a:extLst xmlns:a="http://schemas.openxmlformats.org/drawingml/2006/main">
              <a:ext uri="{FF2B5EF4-FFF2-40B4-BE49-F238E27FC236}">
                <a16:creationId xmlns:a16="http://schemas.microsoft.com/office/drawing/2014/main" id="{D607DE44-BB05-4C7F-9EF2-E4854F8E6ADA}"/>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79A96B"/>
          </a:solidFill>
          <a:ln xmlns:a="http://schemas.openxmlformats.org/drawingml/2006/main" w="9525">
            <a:solidFill>
              <a:srgbClr val="79A96B"/>
            </a:solidFill>
            <a:prstDash val="solid"/>
          </a:ln>
        </p:spPr>
      </p:sp>
      <p:sp>
        <p:nvSpPr>
          <p:cNvPr id="5" name="Google-Shape-2261-p159-6">
            <a:extLst xmlns:a="http://schemas.openxmlformats.org/drawingml/2006/main">
              <a:ext uri="{FF2B5EF4-FFF2-40B4-BE49-F238E27FC236}">
                <a16:creationId xmlns:a16="http://schemas.microsoft.com/office/drawing/2014/main" id="{33763F2C-447B-4AAA-BADB-84E29BCED3F2}"/>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7AA6F8"/>
          </a:solidFill>
          <a:ln xmlns:a="http://schemas.openxmlformats.org/drawingml/2006/main" w="9525">
            <a:solidFill>
              <a:srgbClr val="7AA6F8"/>
            </a:solidFill>
            <a:prstDash val="solid"/>
          </a:ln>
        </p:spPr>
      </p:sp>
      <p:sp>
        <p:nvSpPr>
          <p:cNvPr id="6" name="Google-Shape-2262-p159-7">
            <a:extLst xmlns:a="http://schemas.openxmlformats.org/drawingml/2006/main">
              <a:ext uri="{FF2B5EF4-FFF2-40B4-BE49-F238E27FC236}">
                <a16:creationId xmlns:a16="http://schemas.microsoft.com/office/drawing/2014/main" id="{AB6C4B21-0740-4845-95B0-55C51FF06AB1}"/>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F28B82"/>
          </a:solidFill>
          <a:ln xmlns:a="http://schemas.openxmlformats.org/drawingml/2006/main" w="9525">
            <a:solidFill>
              <a:srgbClr val="F28B82"/>
            </a:solidFill>
            <a:prstDash val="solid"/>
          </a:ln>
        </p:spPr>
      </p:sp>
      <p:sp>
        <p:nvSpPr>
          <p:cNvPr id="7" name="Rounded-Rectangle-19-8">
            <a:extLst xmlns:a="http://schemas.openxmlformats.org/drawingml/2006/main">
              <a:ext uri="{FF2B5EF4-FFF2-40B4-BE49-F238E27FC236}">
                <a16:creationId xmlns:a16="http://schemas.microsoft.com/office/drawing/2014/main" id="{51A0C20B-9CFF-4770-AF24-D7D13EF16F61}"/>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DDEFD7"/>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Content-Placeholder-8-9">
            <a:extLst xmlns:a="http://schemas.openxmlformats.org/drawingml/2006/main">
              <a:ext uri="{FF2B5EF4-FFF2-40B4-BE49-F238E27FC236}">
                <a16:creationId xmlns:a16="http://schemas.microsoft.com/office/drawing/2014/main" id="{378368F1-1124-446A-9FF8-19C589EEC176}"/>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Focused POC</a:t>
            </a:r>
          </a:p>
          <a:p xmlns:a="http://schemas.openxmlformats.org/drawingml/2006/main">
            <a:pPr algn="l">
              <a:buNone/>
              <a:defRPr sz="1600">
                <a:solidFill>
                  <a:srgbClr val="000000"/>
                </a:solidFill>
                <a:latin typeface="Helvetica Neue"/>
                <a:ea typeface="Helvetica Neue"/>
                <a:cs typeface="Helvetica Neue"/>
              </a:defRPr>
            </a:pPr>
            <a:r>
              <a:t>One VS Code client, one gateway, signed registry snapshot, two internal MCP servers, API tools only, synthetic read-only data, and one trace.</a:t>
            </a:r>
          </a:p>
        </p:txBody>
      </p:sp>
      <p:sp>
        <p:nvSpPr>
          <p:cNvPr id="9" name="Rounded-Rectangle-21-10">
            <a:extLst xmlns:a="http://schemas.openxmlformats.org/drawingml/2006/main">
              <a:ext uri="{FF2B5EF4-FFF2-40B4-BE49-F238E27FC236}">
                <a16:creationId xmlns:a16="http://schemas.microsoft.com/office/drawing/2014/main" id="{960B71E2-D960-43F2-B224-DEE7F283E44E}"/>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DCE8FF"/>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Content-Placeholder-8-11">
            <a:extLst xmlns:a="http://schemas.openxmlformats.org/drawingml/2006/main">
              <a:ext uri="{FF2B5EF4-FFF2-40B4-BE49-F238E27FC236}">
                <a16:creationId xmlns:a16="http://schemas.microsoft.com/office/drawing/2014/main" id="{D0231138-E240-4A50-A2FB-1E115E5F410D}"/>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Internal pilot</a:t>
            </a:r>
          </a:p>
          <a:p xmlns:a="http://schemas.openxmlformats.org/drawingml/2006/main">
            <a:pPr algn="l">
              <a:buNone/>
              <a:defRPr sz="1600">
                <a:solidFill>
                  <a:srgbClr val="000000"/>
                </a:solidFill>
                <a:latin typeface="Helvetica Neue"/>
                <a:ea typeface="Helvetica Neue"/>
                <a:cs typeface="Helvetica Neue"/>
              </a:defRPr>
            </a:pPr>
            <a:r>
              <a:t>Expand to more approved internal APIs.</a:t>
            </a:r>
          </a:p>
          <a:p xmlns:a="http://schemas.openxmlformats.org/drawingml/2006/main">
            <a:pPr algn="l">
              <a:buNone/>
              <a:defRPr sz="1600">
                <a:solidFill>
                  <a:srgbClr val="000000"/>
                </a:solidFill>
                <a:latin typeface="Helvetica Neue"/>
                <a:ea typeface="Helvetica Neue"/>
                <a:cs typeface="Helvetica Neue"/>
              </a:defRPr>
            </a:pPr>
            <a:r>
              <a:t>Add reliability, security monitoring, automated policy checks, and a clear support owner.</a:t>
            </a:r>
          </a:p>
        </p:txBody>
      </p:sp>
      <p:sp>
        <p:nvSpPr>
          <p:cNvPr id="11" name="Rounded-Rectangle-23-12">
            <a:extLst xmlns:a="http://schemas.openxmlformats.org/drawingml/2006/main">
              <a:ext uri="{FF2B5EF4-FFF2-40B4-BE49-F238E27FC236}">
                <a16:creationId xmlns:a16="http://schemas.microsoft.com/office/drawing/2014/main" id="{2A5E47E6-5455-495B-91C0-DD47A3E6342E}"/>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FE0DE"/>
          </a:solidFill>
          <a:ln xmlns:a="http://schemas.openxmlformats.org/drawingml/2006/main" w="14288">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Content-Placeholder-8-13">
            <a:extLst xmlns:a="http://schemas.openxmlformats.org/drawingml/2006/main">
              <a:ext uri="{FF2B5EF4-FFF2-40B4-BE49-F238E27FC236}">
                <a16:creationId xmlns:a16="http://schemas.microsoft.com/office/drawing/2014/main" id="{C46EC608-9555-49E9-8036-79728082ED4F}"/>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Separate governance decision</a:t>
            </a:r>
          </a:p>
          <a:p xmlns:a="http://schemas.openxmlformats.org/drawingml/2006/main">
            <a:pPr algn="l">
              <a:buNone/>
              <a:defRPr sz="1600">
                <a:solidFill>
                  <a:srgbClr val="000000"/>
                </a:solidFill>
                <a:latin typeface="Helvetica Neue"/>
                <a:ea typeface="Helvetica Neue"/>
                <a:cs typeface="Helvetica Neue"/>
              </a:defRPr>
            </a:pPr>
            <a:r>
              <a:t>Customer data, DB / filesystem access, external hosting, or agents / A2A are not extensions of this POC.</a:t>
            </a:r>
          </a:p>
        </p:txBody>
      </p:sp>
      <p:sp>
        <p:nvSpPr>
          <p:cNvPr id="13" name="Text-Placeholder-16-14">
            <a:extLst xmlns:a="http://schemas.openxmlformats.org/drawingml/2006/main">
              <a:ext uri="{FF2B5EF4-FFF2-40B4-BE49-F238E27FC236}">
                <a16:creationId xmlns:a16="http://schemas.microsoft.com/office/drawing/2014/main" id="{F155ED51-4B0D-4AA7-B30A-1E7CC0DD4816}"/>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PILOT</a:t>
            </a:r>
          </a:p>
        </p:txBody>
      </p:sp>
      <p:sp>
        <p:nvSpPr>
          <p:cNvPr id="14" name="Text-Placeholder-16-15">
            <a:extLst xmlns:a="http://schemas.openxmlformats.org/drawingml/2006/main">
              <a:ext uri="{FF2B5EF4-FFF2-40B4-BE49-F238E27FC236}">
                <a16:creationId xmlns:a16="http://schemas.microsoft.com/office/drawing/2014/main" id="{FA800B9B-51AF-4B92-BC09-F0394D91BA7F}"/>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POC</a:t>
            </a:r>
          </a:p>
        </p:txBody>
      </p:sp>
      <p:sp>
        <p:nvSpPr>
          <p:cNvPr id="15" name="Text-Placeholder-16-16">
            <a:extLst xmlns:a="http://schemas.openxmlformats.org/drawingml/2006/main">
              <a:ext uri="{FF2B5EF4-FFF2-40B4-BE49-F238E27FC236}">
                <a16:creationId xmlns:a16="http://schemas.microsoft.com/office/drawing/2014/main" id="{61E8079B-0EF8-44F3-B6B3-3A52489610A5}"/>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EXCEPTION</a:t>
            </a:r>
          </a:p>
        </p:txBody>
      </p:sp>
    </p:spTree>
    <p:extLst>
      <p:ext uri="{BB962C8B-B14F-4D97-AF65-F5344CB8AC3E}">
        <p14:creationId xmlns:p14="http://schemas.microsoft.com/office/powerpoint/2010/main" val="74169977"/>
      </p:ext>
    </p:extLst>
  </p:cSld>
</p:sld>
</file>

<file path=ppt/slides/slide12.xml><?xml version="1.0" encoding="utf-8"?>
<p:sld xmlns:p="http://schemas.openxmlformats.org/presentationml/2006/main">
  <p:cSld>
    <p:bg>
      <p:bgPr>
        <a:solidFill xmlns:a="http://schemas.openxmlformats.org/drawingml/2006/main">
          <a:srgbClr val="F7FBF5"/>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56B5250A-2D98-4AAB-B990-C90BC401B4A0}"/>
              </a:ext>
            </a:extLst>
          </p:cNvPr>
          <p:cNvSpPr>
            <a:spLocks xmlns:a="http://schemas.openxmlformats.org/drawingml/2006/main" noGrp="1"/>
          </p:cNvSpPr>
          <p:nvPr/>
        </p:nvSpPr>
        <p:spPr>
          <a:xfrm xmlns:a="http://schemas.openxmlformats.org/drawingml/2006/main">
            <a:off x="393668" y="1738789"/>
            <a:ext cx="110490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Approve the diagnostic slice—</a:t>
            </a:r>
          </a:p>
          <a:p xmlns:a="http://schemas.openxmlformats.org/drawingml/2006/main">
            <a:pPr algn="l">
              <a:buNone/>
              <a:defRPr sz="6000">
                <a:solidFill>
                  <a:srgbClr val="000000"/>
                </a:solidFill>
                <a:latin typeface="Helvetica Neue"/>
                <a:ea typeface="Helvetica Neue"/>
                <a:cs typeface="Helvetica Neue"/>
              </a:defRPr>
            </a:pPr>
            <a:r>
              <a:t>not a platform rollout</a:t>
            </a:r>
          </a:p>
        </p:txBody>
      </p:sp>
      <p:sp>
        <p:nvSpPr>
          <p:cNvPr id="2" name="Subtitle-4-2">
            <a:extLst xmlns:a="http://schemas.openxmlformats.org/drawingml/2006/main">
              <a:ext uri="{FF2B5EF4-FFF2-40B4-BE49-F238E27FC236}">
                <a16:creationId xmlns:a16="http://schemas.microsoft.com/office/drawing/2014/main" id="{7B791538-349C-4C78-B379-73768E897D0E}"/>
              </a:ext>
            </a:extLst>
          </p:cNvPr>
          <p:cNvSpPr>
            <a:spLocks xmlns:a="http://schemas.openxmlformats.org/drawingml/2006/main" noGrp="1"/>
          </p:cNvSpPr>
          <p:nvPr/>
        </p:nvSpPr>
        <p:spPr>
          <a:xfrm xmlns:a="http://schemas.openxmlformats.org/drawingml/2006/main">
            <a:off x="393668" y="4973288"/>
            <a:ext cx="6858000" cy="11430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 client • 1 gateway • 1 scenario</a:t>
            </a:r>
          </a:p>
          <a:p xmlns:a="http://schemas.openxmlformats.org/drawingml/2006/main">
            <a:pPr algn="l">
              <a:buNone/>
              <a:defRPr sz="2400">
                <a:solidFill>
                  <a:srgbClr val="000000"/>
                </a:solidFill>
                <a:latin typeface="Helvetica Neue"/>
                <a:ea typeface="Helvetica Neue"/>
                <a:cs typeface="Helvetica Neue"/>
              </a:defRPr>
            </a:pPr>
            <a:r>
              <a:t>2 internal API-only MCP servers • no agents • synthetic read-only data</a:t>
            </a:r>
          </a:p>
          <a:p xmlns:a="http://schemas.openxmlformats.org/drawingml/2006/main">
            <a:pPr algn="l">
              <a:buNone/>
              <a:defRPr sz="2400">
                <a:solidFill>
                  <a:srgbClr val="000000"/>
                </a:solidFill>
                <a:latin typeface="Helvetica Neue"/>
                <a:ea typeface="Helvetica Neue"/>
                <a:cs typeface="Helvetica Neue"/>
              </a:defRPr>
            </a:pPr>
            <a:r>
              <a:t>Continue / refine / stop</a:t>
            </a:r>
          </a:p>
        </p:txBody>
      </p:sp>
      <p:sp>
        <p:nvSpPr>
          <p:cNvPr id="3" name="Subtitle-4-3">
            <a:extLst xmlns:a="http://schemas.openxmlformats.org/drawingml/2006/main">
              <a:ext uri="{FF2B5EF4-FFF2-40B4-BE49-F238E27FC236}">
                <a16:creationId xmlns:a16="http://schemas.microsoft.com/office/drawing/2014/main" id="{D3B09A87-4929-421B-83F2-0E07943BF10E}"/>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DECISION</a:t>
            </a:r>
          </a:p>
        </p:txBody>
      </p:sp>
    </p:spTree>
    <p:extLst>
      <p:ext uri="{BB962C8B-B14F-4D97-AF65-F5344CB8AC3E}">
        <p14:creationId xmlns:p14="http://schemas.microsoft.com/office/powerpoint/2010/main" val="5523540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2026-08-01T00:14:20.0490000Z</dcterms:created>
  <dcterms:modified xsi:type="dcterms:W3CDTF">2026-08-01T00:14:20.0490000Z</dcterms:modified>
</coreProperties>
</file>